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9fd9fb6bf4657" /><Relationship Type="http://schemas.openxmlformats.org/officeDocument/2006/relationships/extended-properties" Target="/docProps/app.xml" Id="R7c02acf49e304bfc" /><Relationship Type="http://schemas.openxmlformats.org/officeDocument/2006/relationships/officeDocument" Target="/ppt/presentation.xml" Id="Re931c646e3d2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56e75b5a64d0a"/>
  </p:sldMasterIdLst>
  <p:notesMasterIdLst>
    <p:notesMasterId xmlns:r="http://schemas.openxmlformats.org/officeDocument/2006/relationships" r:id="R4129e570865f4b8c"/>
  </p:notesMasterIdLst>
  <p:sldIdLst>
    <p:sldId xmlns:r="http://schemas.openxmlformats.org/officeDocument/2006/relationships" id="256" r:id="Rf65b4a603307482a"/>
    <p:sldId xmlns:r="http://schemas.openxmlformats.org/officeDocument/2006/relationships" id="257" r:id="R4dc96142fae84ffd"/>
    <p:sldId xmlns:r="http://schemas.openxmlformats.org/officeDocument/2006/relationships" id="258" r:id="R23a540341bc44c61"/>
    <p:sldId xmlns:r="http://schemas.openxmlformats.org/officeDocument/2006/relationships" id="259" r:id="Rbae388c91e0d490b"/>
    <p:sldId xmlns:r="http://schemas.openxmlformats.org/officeDocument/2006/relationships" id="260" r:id="R0769c971d81c488f"/>
    <p:sldId xmlns:r="http://schemas.openxmlformats.org/officeDocument/2006/relationships" id="261" r:id="R9f6a68118dea4928"/>
    <p:sldId xmlns:r="http://schemas.openxmlformats.org/officeDocument/2006/relationships" id="262" r:id="Rda41448db80f46bd"/>
    <p:sldId xmlns:r="http://schemas.openxmlformats.org/officeDocument/2006/relationships" id="263" r:id="R1ee88f9ccb984cc2"/>
    <p:sldId xmlns:r="http://schemas.openxmlformats.org/officeDocument/2006/relationships" id="264" r:id="R6e17082283964c99"/>
    <p:sldId xmlns:r="http://schemas.openxmlformats.org/officeDocument/2006/relationships" id="265" r:id="Rd7c02581f5ca4595"/>
    <p:sldId xmlns:r="http://schemas.openxmlformats.org/officeDocument/2006/relationships" id="266" r:id="R93dbdbfd4bec46d2"/>
    <p:sldId xmlns:r="http://schemas.openxmlformats.org/officeDocument/2006/relationships" id="267" r:id="R86e18906fe6f4c2e"/>
    <p:sldId xmlns:r="http://schemas.openxmlformats.org/officeDocument/2006/relationships" id="268" r:id="Re2450983fd9d4db3"/>
    <p:sldId xmlns:r="http://schemas.openxmlformats.org/officeDocument/2006/relationships" id="269" r:id="R927bb9986fc64904"/>
    <p:sldId xmlns:r="http://schemas.openxmlformats.org/officeDocument/2006/relationships" id="270" r:id="Rfcf3364ef7ca4891"/>
    <p:sldId xmlns:r="http://schemas.openxmlformats.org/officeDocument/2006/relationships" id="271" r:id="Ra41287a14c204eec"/>
    <p:sldId xmlns:r="http://schemas.openxmlformats.org/officeDocument/2006/relationships" id="272" r:id="R09ea10ef92b94fb9"/>
    <p:sldId xmlns:r="http://schemas.openxmlformats.org/officeDocument/2006/relationships" id="273" r:id="R7b326e0a85a5459e"/>
    <p:sldId xmlns:r="http://schemas.openxmlformats.org/officeDocument/2006/relationships" id="274" r:id="R7f8a2cb50b2e41b7"/>
    <p:sldId xmlns:r="http://schemas.openxmlformats.org/officeDocument/2006/relationships" id="275" r:id="R4ae72438d1914052"/>
    <p:sldId xmlns:r="http://schemas.openxmlformats.org/officeDocument/2006/relationships" id="276" r:id="R9260fb6227c049c1"/>
    <p:sldId xmlns:r="http://schemas.openxmlformats.org/officeDocument/2006/relationships" id="277" r:id="R0dcacce4de4e4b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1ede39b4e456c" /><Relationship Type="http://schemas.openxmlformats.org/officeDocument/2006/relationships/slideMaster" Target="/ppt/slideMasters/slideMaster1.xml" Id="R58856e75b5a64d0a" /><Relationship Type="http://schemas.openxmlformats.org/officeDocument/2006/relationships/notesMaster" Target="/ppt/notesMasters/notesMaster1.xml" Id="R4129e570865f4b8c" /><Relationship Type="http://schemas.openxmlformats.org/officeDocument/2006/relationships/presProps" Target="/ppt/presProps.xml" Id="Rb3ef15552e5c473c" /><Relationship Type="http://schemas.openxmlformats.org/officeDocument/2006/relationships/tableStyles" Target="/ppt/tableStyles.xml" Id="Rb4210fa7e3f341b2" /><Relationship Type="http://schemas.openxmlformats.org/officeDocument/2006/relationships/slide" Target="/ppt/slides/slide1.xml" Id="Rf65b4a603307482a" /><Relationship Type="http://schemas.openxmlformats.org/officeDocument/2006/relationships/slide" Target="/ppt/slides/slide2.xml" Id="R4dc96142fae84ffd" /><Relationship Type="http://schemas.openxmlformats.org/officeDocument/2006/relationships/slide" Target="/ppt/slides/slide3.xml" Id="R23a540341bc44c61" /><Relationship Type="http://schemas.openxmlformats.org/officeDocument/2006/relationships/slide" Target="/ppt/slides/slide4.xml" Id="Rbae388c91e0d490b" /><Relationship Type="http://schemas.openxmlformats.org/officeDocument/2006/relationships/slide" Target="/ppt/slides/slide5.xml" Id="R0769c971d81c488f" /><Relationship Type="http://schemas.openxmlformats.org/officeDocument/2006/relationships/slide" Target="/ppt/slides/slide6.xml" Id="R9f6a68118dea4928" /><Relationship Type="http://schemas.openxmlformats.org/officeDocument/2006/relationships/slide" Target="/ppt/slides/slide7.xml" Id="Rda41448db80f46bd" /><Relationship Type="http://schemas.openxmlformats.org/officeDocument/2006/relationships/slide" Target="/ppt/slides/slide8.xml" Id="R1ee88f9ccb984cc2" /><Relationship Type="http://schemas.openxmlformats.org/officeDocument/2006/relationships/slide" Target="/ppt/slides/slide9.xml" Id="R6e17082283964c99" /><Relationship Type="http://schemas.openxmlformats.org/officeDocument/2006/relationships/slide" Target="/ppt/slides/slide10.xml" Id="Rd7c02581f5ca4595" /><Relationship Type="http://schemas.openxmlformats.org/officeDocument/2006/relationships/slide" Target="/ppt/slides/slide11.xml" Id="R93dbdbfd4bec46d2" /><Relationship Type="http://schemas.openxmlformats.org/officeDocument/2006/relationships/slide" Target="/ppt/slides/slide12.xml" Id="R86e18906fe6f4c2e" /><Relationship Type="http://schemas.openxmlformats.org/officeDocument/2006/relationships/slide" Target="/ppt/slides/slide13.xml" Id="Re2450983fd9d4db3" /><Relationship Type="http://schemas.openxmlformats.org/officeDocument/2006/relationships/slide" Target="/ppt/slides/slide14.xml" Id="R927bb9986fc64904" /><Relationship Type="http://schemas.openxmlformats.org/officeDocument/2006/relationships/slide" Target="/ppt/slides/slide15.xml" Id="Rfcf3364ef7ca4891" /><Relationship Type="http://schemas.openxmlformats.org/officeDocument/2006/relationships/slide" Target="/ppt/slides/slide16.xml" Id="Ra41287a14c204eec" /><Relationship Type="http://schemas.openxmlformats.org/officeDocument/2006/relationships/slide" Target="/ppt/slides/slide17.xml" Id="R09ea10ef92b94fb9" /><Relationship Type="http://schemas.openxmlformats.org/officeDocument/2006/relationships/slide" Target="/ppt/slides/slide18.xml" Id="R7b326e0a85a5459e" /><Relationship Type="http://schemas.openxmlformats.org/officeDocument/2006/relationships/slide" Target="/ppt/slides/slide19.xml" Id="R7f8a2cb50b2e41b7" /><Relationship Type="http://schemas.openxmlformats.org/officeDocument/2006/relationships/slide" Target="/ppt/slides/slide20.xml" Id="R4ae72438d1914052" /><Relationship Type="http://schemas.openxmlformats.org/officeDocument/2006/relationships/slide" Target="/ppt/slides/slide21.xml" Id="R9260fb6227c049c1" /><Relationship Type="http://schemas.openxmlformats.org/officeDocument/2006/relationships/slide" Target="/ppt/slides/slide22.xml" Id="R0dcacce4de4e4b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232706875c4d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4ee414bd544be2" /><Relationship Type="http://schemas.openxmlformats.org/officeDocument/2006/relationships/notesMaster" Target="/ppt/notesMasters/notesMaster1.xml" Id="Ra8466982f2124a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4670f632cf4af3" /><Relationship Type="http://schemas.openxmlformats.org/officeDocument/2006/relationships/notesMaster" Target="/ppt/notesMasters/notesMaster1.xml" Id="R6e1f7c3c5adb47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ce39f382864bb8" /><Relationship Type="http://schemas.openxmlformats.org/officeDocument/2006/relationships/notesMaster" Target="/ppt/notesMasters/notesMaster1.xml" Id="Rec3f435c0ddc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80b800af547b8" /><Relationship Type="http://schemas.openxmlformats.org/officeDocument/2006/relationships/notesMaster" Target="/ppt/notesMasters/notesMaster1.xml" Id="R2463c93ad71449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fde1e85da54a3a" /><Relationship Type="http://schemas.openxmlformats.org/officeDocument/2006/relationships/notesMaster" Target="/ppt/notesMasters/notesMaster1.xml" Id="R02a8004902c145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9059af4aae4aaa" /><Relationship Type="http://schemas.openxmlformats.org/officeDocument/2006/relationships/notesMaster" Target="/ppt/notesMasters/notesMaster1.xml" Id="R5c166318378744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cf8e6be00a4376" /><Relationship Type="http://schemas.openxmlformats.org/officeDocument/2006/relationships/notesMaster" Target="/ppt/notesMasters/notesMaster1.xml" Id="R8d60672c70b6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459974e9b4336" /><Relationship Type="http://schemas.openxmlformats.org/officeDocument/2006/relationships/notesMaster" Target="/ppt/notesMasters/notesMaster1.xml" Id="Re815fdb00fa845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c56c9d8c6c4d18" /><Relationship Type="http://schemas.openxmlformats.org/officeDocument/2006/relationships/notesMaster" Target="/ppt/notesMasters/notesMaster1.xml" Id="Re3ac6166c63041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b2b3eb9f8b4386" /><Relationship Type="http://schemas.openxmlformats.org/officeDocument/2006/relationships/notesMaster" Target="/ppt/notesMasters/notesMaster1.xml" Id="Rde773fdae8f44d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227a040aa640d0" /><Relationship Type="http://schemas.openxmlformats.org/officeDocument/2006/relationships/notesMaster" Target="/ppt/notesMasters/notesMaster1.xml" Id="Rd6b801e784e648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59d472f3da403c" /><Relationship Type="http://schemas.openxmlformats.org/officeDocument/2006/relationships/notesMaster" Target="/ppt/notesMasters/notesMaster1.xml" Id="R36bc3ead96794f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44b88d63624ff0" /><Relationship Type="http://schemas.openxmlformats.org/officeDocument/2006/relationships/notesMaster" Target="/ppt/notesMasters/notesMaster1.xml" Id="Rf40c8fd180e847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30dfaeebae4997" /><Relationship Type="http://schemas.openxmlformats.org/officeDocument/2006/relationships/notesMaster" Target="/ppt/notesMasters/notesMaster1.xml" Id="R8e628f9bdb5047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59b8653d284a85" /><Relationship Type="http://schemas.openxmlformats.org/officeDocument/2006/relationships/notesMaster" Target="/ppt/notesMasters/notesMaster1.xml" Id="R870b3c64c02448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a1a02bddf54ede" /><Relationship Type="http://schemas.openxmlformats.org/officeDocument/2006/relationships/notesMaster" Target="/ppt/notesMasters/notesMaster1.xml" Id="Rbea2ba853f1a41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6358e49fb84cf1" /><Relationship Type="http://schemas.openxmlformats.org/officeDocument/2006/relationships/notesMaster" Target="/ppt/notesMasters/notesMaster1.xml" Id="R1b9e0bfe72a04d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8d30d1d0b14ae0" /><Relationship Type="http://schemas.openxmlformats.org/officeDocument/2006/relationships/notesMaster" Target="/ppt/notesMasters/notesMaster1.xml" Id="R103be9dc332e4b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be877ec81c4a5c" /><Relationship Type="http://schemas.openxmlformats.org/officeDocument/2006/relationships/notesMaster" Target="/ppt/notesMasters/notesMaster1.xml" Id="R864d6a88708242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5840dd1d704152" /><Relationship Type="http://schemas.openxmlformats.org/officeDocument/2006/relationships/notesMaster" Target="/ppt/notesMasters/notesMaster1.xml" Id="R662b1c76ee5f499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48b5088713487e" /><Relationship Type="http://schemas.openxmlformats.org/officeDocument/2006/relationships/notesMaster" Target="/ppt/notesMasters/notesMaster1.xml" Id="Re07385420e6d4f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0dc04b32234685" /><Relationship Type="http://schemas.openxmlformats.org/officeDocument/2006/relationships/notesMaster" Target="/ppt/notesMasters/notesMaster1.xml" Id="Ra4140e5a67f6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2³ = 8 combinations, from 000 through 111.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Open the existing practice page for the six standard gate-symbol diagrams and compare with syllabus page 33.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NOT;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AND;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Yes. OR is inclusive.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OR;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OR gives 1. XOR gives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XOR;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NAND;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p.357, Figure 10.1, NOR;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AND and OR. NAND, NOR and XOR give 0 for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C changes every row. B changes every two rows. A changes every four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X = (A OR B) AND NOT C. OR is inclusive: both sensors may be active.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For a circuit, connect A and B to OR; connect C to NOT; connect the two intermediate outputs to AND. Do not simplify away gates specified by the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 = 1, Q = 0, X = 0. Disabling the alarm prevents the sensor from sounding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The alarm is disabled: Q = NOT C = 0. Therefore P AND Q =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(NOT A AND B) OR (A AND NOT B). This has XOR behaviour; follow the requested form when drawing a circuit.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(NOT A AND B) OR (A AND NOT B).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1. NOT S = 1, and 1 AND 1 =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p.373, Figure 10.28;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(NOT S AND T) OR (S AND W).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p.373, Figure 10.31;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Two NOT gates, three AND gates and two OR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Image: Hodder p.374, Figure 10.32; cropped from the supplied textbook.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 = 1. Q and R are both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Create the two AND results separately, including NOT A, then feed their outputs into an OR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P = 0, Q = 1, R = 1, X = 1. The unselected branch cannot change this OR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Exit task: draw the circuit, enumerate all eight rows, then explain in words when X is 1. Homework: Hodder chapter 10 workbook then PMT 10. Full adders in the textbook are enrichment, not an extra 2026–2028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When A = 1, X follows B. When A = 0, X follows C. Keep the original gates when the question asks for the unsimplified circuit.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Ask students to predict first, explain their reasoning, then compare with the model answer. Use the linked chapter workbook for independent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</a:t>
            </a:r>
          </a:p>
          <a:p xmlns:a="http://schemas.openxmlformats.org/drawingml/2006/main">
            <a:r>
              <a:t>Inversion. It changes each 0 to 1 and each 1 to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PROMPT</a:t>
            </a:r>
          </a:p>
          <a:p xmlns:a="http://schemas.openxmlformats.org/drawingml/2006/main">
            <a:r>
              <a:t>Check one complete input trace before completing the whole truth table. Use the chapter workbook and PMT Topic 10 questions for further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User-supplied Cambridge IGCSE Computer Science 0478 syllabus 2026–2028 Version 6, chapter 10 and Paper 2 conventions, in resources/chapters/10/syllabus.pdf. CUP second edition and Hodder Education 2021 chapter 10. Exact source-page mappings: resources/catalog.json. </a:t>
            </a:r>
          </a:p>
          <a:p xmlns:a="http://schemas.openxmlformats.org/drawingml/2006/main">
            <a:r>
              <a:t>Original teaching examples and model answers unless a textbook figure is credited. Model answers are not official mark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829f4cf5849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13c3a85ec341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f3fc5e87d44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6ccb145224a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1a76fe4314d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3e33cd50e4b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33BA60-AFBB-46D6-84E3-6600C3AED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CA48BC-C7E4-4491-A732-BC9DFD9E33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3640AC-5D7B-493E-97A7-02A58B010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D69AD3-86EA-45F7-B52E-9D9BA10A7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2F4615-BCA8-4436-BF7D-FF7F11773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037599-D4ED-4291-958B-93EE43E5F7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7D13DF-D161-42B3-BCAE-3504A0FC30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9D50A9-ABC2-4897-8676-485964FE13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9E1C08-4F52-4E29-BD19-4D1F1E2E1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7CEB6E-AEEE-46B5-9FAC-CC8375AF58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d67ff92c3049aa" /><Relationship Type="http://schemas.openxmlformats.org/officeDocument/2006/relationships/slideLayout" Target="/ppt/slideLayouts/slideLayout1.xml" Id="R0054e15120194fc8" /><Relationship Type="http://schemas.openxmlformats.org/officeDocument/2006/relationships/slideLayout" Target="/ppt/slideLayouts/slideLayout2.xml" Id="Rc0d4f665fced4386" /><Relationship Type="http://schemas.openxmlformats.org/officeDocument/2006/relationships/slideLayout" Target="/ppt/slideLayouts/slideLayout3.xml" Id="R246a56e37f974271" /><Relationship Type="http://schemas.openxmlformats.org/officeDocument/2006/relationships/slideLayout" Target="/ppt/slideLayouts/slideLayout4.xml" Id="R0ddfe6d6b07a4da9" /><Relationship Type="http://schemas.openxmlformats.org/officeDocument/2006/relationships/slideLayout" Target="/ppt/slideLayouts/slideLayout5.xml" Id="R69d51e5ea83b4408" /><Relationship Type="http://schemas.openxmlformats.org/officeDocument/2006/relationships/slideLayout" Target="/ppt/slideLayouts/slideLayout6.xml" Id="Rf838030816be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4e15120194fc8"/>
    <p:sldLayoutId xmlns:r="http://schemas.openxmlformats.org/officeDocument/2006/relationships" id="2147483650" r:id="Rc0d4f665fced4386"/>
    <p:sldLayoutId xmlns:r="http://schemas.openxmlformats.org/officeDocument/2006/relationships" id="2147483651" r:id="R246a56e37f974271"/>
    <p:sldLayoutId xmlns:r="http://schemas.openxmlformats.org/officeDocument/2006/relationships" id="2147483652" r:id="R0ddfe6d6b07a4da9"/>
    <p:sldLayoutId xmlns:r="http://schemas.openxmlformats.org/officeDocument/2006/relationships" id="2147483653" r:id="R69d51e5ea83b4408"/>
    <p:sldLayoutId xmlns:r="http://schemas.openxmlformats.org/officeDocument/2006/relationships" id="2147483654" r:id="Rf838030816be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0172d0a6c54e3a" /><Relationship Type="http://schemas.openxmlformats.org/officeDocument/2006/relationships/notesSlide" Target="/ppt/notesSlides/notesSlide1.xml" Id="R69b97d689f6b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7d031c0f74e0b" /><Relationship Type="http://schemas.openxmlformats.org/officeDocument/2006/relationships/image" Target="/ppt/media/image.png" Id="R225e9f3530204a71" /><Relationship Type="http://schemas.openxmlformats.org/officeDocument/2006/relationships/notesSlide" Target="/ppt/notesSlides/notesSlide2.xml" Id="Rbc419d1ada8c45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16f3605234081" /><Relationship Type="http://schemas.openxmlformats.org/officeDocument/2006/relationships/image" Target="/ppt/media/image2.png" Id="R9f949aae12574281" /><Relationship Type="http://schemas.openxmlformats.org/officeDocument/2006/relationships/notesSlide" Target="/ppt/notesSlides/notesSlide3.xml" Id="R9aba4223ff00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d5fe9f5984ccd" /><Relationship Type="http://schemas.openxmlformats.org/officeDocument/2006/relationships/image" Target="/ppt/media/image3.png" Id="R29e97abc44574799" /><Relationship Type="http://schemas.openxmlformats.org/officeDocument/2006/relationships/notesSlide" Target="/ppt/notesSlides/notesSlide4.xml" Id="Re663623ae3a54a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74cd83c2d44e9" /><Relationship Type="http://schemas.openxmlformats.org/officeDocument/2006/relationships/image" Target="/ppt/media/image4.png" Id="R610c6fb8e63f41cc" /><Relationship Type="http://schemas.openxmlformats.org/officeDocument/2006/relationships/notesSlide" Target="/ppt/notesSlides/notesSlide5.xml" Id="R3fd898531e0e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605017a3348d1" /><Relationship Type="http://schemas.openxmlformats.org/officeDocument/2006/relationships/image" Target="/ppt/media/image5.png" Id="Rbd9bd832e6d544c3" /><Relationship Type="http://schemas.openxmlformats.org/officeDocument/2006/relationships/notesSlide" Target="/ppt/notesSlides/notesSlide6.xml" Id="R63606b3f2cba41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2d7f551330473c" /><Relationship Type="http://schemas.openxmlformats.org/officeDocument/2006/relationships/image" Target="/ppt/media/image6.png" Id="Ra4884450a3e74495" /><Relationship Type="http://schemas.openxmlformats.org/officeDocument/2006/relationships/notesSlide" Target="/ppt/notesSlides/notesSlide7.xml" Id="R6f75036ab1d841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507544c074102" /><Relationship Type="http://schemas.openxmlformats.org/officeDocument/2006/relationships/notesSlide" Target="/ppt/notesSlides/notesSlide8.xml" Id="R4feeffd24107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836ad931e4f4c" /><Relationship Type="http://schemas.openxmlformats.org/officeDocument/2006/relationships/notesSlide" Target="/ppt/notesSlides/notesSlide9.xml" Id="R2ee3f94a9cb94e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26343c3914b73" /><Relationship Type="http://schemas.openxmlformats.org/officeDocument/2006/relationships/notesSlide" Target="/ppt/notesSlides/notesSlide10.xml" Id="Rb1731ca50ed548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c7f08ed4b4651" /><Relationship Type="http://schemas.openxmlformats.org/officeDocument/2006/relationships/notesSlide" Target="/ppt/notesSlides/notesSlide11.xml" Id="Rc41ac86502dc42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2806344cd4859" /><Relationship Type="http://schemas.openxmlformats.org/officeDocument/2006/relationships/notesSlide" Target="/ppt/notesSlides/notesSlide12.xml" Id="Rd0e3e1493ec04e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70006a25947f0" /><Relationship Type="http://schemas.openxmlformats.org/officeDocument/2006/relationships/notesSlide" Target="/ppt/notesSlides/notesSlide13.xml" Id="R770264b52b9644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803be03ca486c" /><Relationship Type="http://schemas.openxmlformats.org/officeDocument/2006/relationships/notesSlide" Target="/ppt/notesSlides/notesSlide14.xml" Id="Rc36c373e1d384b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2c2844abd4d38" /><Relationship Type="http://schemas.openxmlformats.org/officeDocument/2006/relationships/image" Target="/ppt/media/image7.png" Id="Racf5a364fd364a7f" /><Relationship Type="http://schemas.openxmlformats.org/officeDocument/2006/relationships/notesSlide" Target="/ppt/notesSlides/notesSlide15.xml" Id="R0c04f29475464f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2530f44cb44e6" /><Relationship Type="http://schemas.openxmlformats.org/officeDocument/2006/relationships/image" Target="/ppt/media/image8.png" Id="R3bf1847cd2e848aa" /><Relationship Type="http://schemas.openxmlformats.org/officeDocument/2006/relationships/notesSlide" Target="/ppt/notesSlides/notesSlide16.xml" Id="R3f8aa40554b34a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3e7dc396c64298" /><Relationship Type="http://schemas.openxmlformats.org/officeDocument/2006/relationships/image" Target="/ppt/media/image9.png" Id="Rc27f51a110ff4efa" /><Relationship Type="http://schemas.openxmlformats.org/officeDocument/2006/relationships/notesSlide" Target="/ppt/notesSlides/notesSlide17.xml" Id="R07b89533688c4a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cbacb8843454e" /><Relationship Type="http://schemas.openxmlformats.org/officeDocument/2006/relationships/notesSlide" Target="/ppt/notesSlides/notesSlide18.xml" Id="Rf933c2074e2f41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54f921eec47f1" /><Relationship Type="http://schemas.openxmlformats.org/officeDocument/2006/relationships/notesSlide" Target="/ppt/notesSlides/notesSlide19.xml" Id="R65020b4c2e1040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4c80fcf67492a" /><Relationship Type="http://schemas.openxmlformats.org/officeDocument/2006/relationships/notesSlide" Target="/ppt/notesSlides/notesSlide20.xml" Id="Re98c7149049a47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63eb4533f4baa" /><Relationship Type="http://schemas.openxmlformats.org/officeDocument/2006/relationships/notesSlide" Target="/ppt/notesSlides/notesSlide21.xml" Id="R2a910b1430444f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759e71de24463" /><Relationship Type="http://schemas.openxmlformats.org/officeDocument/2006/relationships/notesSlide" Target="/ppt/notesSlides/notesSlide22.xml" Id="R40c9fe9706494c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8917E-7499-4A55-950E-907621D6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B9FB3-33B7-4E62-9BE7-0C00114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Boolean values and logic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2175A-5205-4100-83D0-DBDBB1A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6DA7F-CCB6-4A74-9393-3D346FC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0 / 1 or FALSE / TRUE consistently.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07FF9-ACDF-436C-AE50-4CA6A40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7930A-90A8-4BDB-84FB-B420A6F3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gate maps input values to one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D44ED-0E79-4329-A379-BB24ACF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19675-33E3-4DCB-882E-97A47742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NOT has one input; the other required gates have two inputs.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3DB72-45B2-4D99-BC05-87B3A574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How many input combinations are possible for three independent inputs?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46570-0F54-44EC-938B-EDBF7D3C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1B90-7197-459A-ACA3-D067D16F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 / 22</a:t>
            </a:r>
          </a:p>
        </p:txBody>
      </p:sp>
    </p:spTree>
    <p:extLst>
      <p:ext uri="{BB962C8B-B14F-4D97-AF65-F5344CB8AC3E}">
        <p14:creationId xmlns:p14="http://schemas.microsoft.com/office/powerpoint/2010/main" val="1308283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55DEA-B8C4-42A1-8EA3-3A442647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1092C-DB9A-4828-B7AC-B57E9E22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NOT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27010-DE91-4442-9E09-84B42085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output reverses the input.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33E8B-A3B8-4D7C-B557-9AE932FF8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e9f3530204a71"/>
          <a:stretch xmlns:a="http://schemas.openxmlformats.org/drawingml/2006/main"/>
        </p:blipFill>
        <p:spPr>
          <a:xfrm xmlns:a="http://schemas.openxmlformats.org/drawingml/2006/main">
            <a:off x="914400" y="3005111"/>
            <a:ext cx="4476750" cy="18479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A4DFE-11EC-482F-BBD1-729A519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NOT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6B88C-16EF-4189-B914-BA96BD7A24B9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7128"/>
                <a:gridCol w="2790622"/>
              </a:tblGrid>
              <a:tr h="920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59DA2-84C9-4E4A-AFED-DCDD150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If A = 0, what is X?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9809C-4131-473D-98EE-058C4C04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81C4-D9BC-4ED1-AA11-2F9C60C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1661268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3BF77-6304-4F98-AE26-7C9444BA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8875E-AB4E-40FE-933F-06A8263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AND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67AD0-2F88-4C50-B1F5-692CF0C8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Both inputs must be 1.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39D09-D3A0-4FC6-975D-A772D5BDB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49aae12574281"/>
          <a:stretch xmlns:a="http://schemas.openxmlformats.org/drawingml/2006/main"/>
        </p:blipFill>
        <p:spPr>
          <a:xfrm xmlns:a="http://schemas.openxmlformats.org/drawingml/2006/main">
            <a:off x="1055363" y="3000375"/>
            <a:ext cx="4194824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3F238-99DD-4429-97A3-7F1CFCC2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AND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791A6-B1F2-4407-9A5B-61B72B6D4247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375"/>
                <a:gridCol w="1754188"/>
                <a:gridCol w="1754188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D6C30-8330-4C90-AD83-B5B0C9C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What is X for A = 1 and B = 0?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A2803-4C64-4EAB-A8E2-06C11BA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D3093-FC6E-457F-8833-D332BD5E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3 / 22</a:t>
            </a:r>
          </a:p>
        </p:txBody>
      </p:sp>
    </p:spTree>
    <p:extLst>
      <p:ext uri="{BB962C8B-B14F-4D97-AF65-F5344CB8AC3E}">
        <p14:creationId xmlns:p14="http://schemas.microsoft.com/office/powerpoint/2010/main" val="254181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297E2-F43A-4A17-9AA8-49CAA5F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9B9DC-4731-464A-845F-5C70E37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OR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1BC2F-FFC3-448A-961C-4D05C7F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At least one input must be 1.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C8F5F-FD0C-4188-B3A2-4CA8BDC24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97abc44574799"/>
          <a:stretch xmlns:a="http://schemas.openxmlformats.org/drawingml/2006/main"/>
        </p:blipFill>
        <p:spPr>
          <a:xfrm xmlns:a="http://schemas.openxmlformats.org/drawingml/2006/main">
            <a:off x="914400" y="3103351"/>
            <a:ext cx="4476750" cy="165142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762E0-32B8-4963-8BFF-C38BA66E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OR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29820-A4ED-4B1A-B92A-120FDA8F5730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375"/>
                <a:gridCol w="1754188"/>
                <a:gridCol w="1754188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CBE35-37EA-4B3B-92C6-2E4853F6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Does OR include the case where both inputs are 1?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2B3E0-59C2-4347-BC2E-5574D56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BAE42-E6B0-4A18-9A8F-CD2E018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4 / 22</a:t>
            </a:r>
          </a:p>
        </p:txBody>
      </p:sp>
    </p:spTree>
    <p:extLst>
      <p:ext uri="{BB962C8B-B14F-4D97-AF65-F5344CB8AC3E}">
        <p14:creationId xmlns:p14="http://schemas.microsoft.com/office/powerpoint/2010/main" val="1282305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A6045-B304-4677-A8B4-3C2586D9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XOR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33950-060E-4C4C-9D8D-D2E715A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XOR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51A94-7D01-4F5A-944F-0C93794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Exactly one input must be 1.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6349-12DA-4390-9634-37D5337FA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c6fb8e63f41cc"/>
          <a:stretch xmlns:a="http://schemas.openxmlformats.org/drawingml/2006/main"/>
        </p:blipFill>
        <p:spPr>
          <a:xfrm xmlns:a="http://schemas.openxmlformats.org/drawingml/2006/main">
            <a:off x="920949" y="3000375"/>
            <a:ext cx="4463652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98C71-352D-42C5-B408-768E58D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XOR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99610-6B08-4AC6-B2E0-BE1DB8A4671B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375"/>
                <a:gridCol w="1754188"/>
                <a:gridCol w="1754188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86050-98A3-42A4-A65B-4C3556BC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How do OR and XOR differ for 11?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A9D8-AB4F-4FEB-A7C6-FF35DD9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6C44F-A2FA-45DD-B275-53F7DD43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5 / 22</a:t>
            </a:r>
          </a:p>
        </p:txBody>
      </p:sp>
    </p:spTree>
    <p:extLst>
      <p:ext uri="{BB962C8B-B14F-4D97-AF65-F5344CB8AC3E}">
        <p14:creationId xmlns:p14="http://schemas.microsoft.com/office/powerpoint/2010/main" val="1982249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A3E32-F183-412E-850A-7E0E36CB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NAND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BD410-62B4-41D4-8450-E97E2B20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NAND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78455-A80D-456B-9C3B-3A4799B6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Invert the output of AND.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F837E-63FF-423A-A18F-9DC5DEED7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bd832e6d544c3"/>
          <a:stretch xmlns:a="http://schemas.openxmlformats.org/drawingml/2006/main"/>
        </p:blipFill>
        <p:spPr>
          <a:xfrm xmlns:a="http://schemas.openxmlformats.org/drawingml/2006/main">
            <a:off x="914400" y="3095890"/>
            <a:ext cx="4476750" cy="16663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3913B-5F8F-4962-9341-64C40BBF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NAND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F633-4BC1-4B08-B65A-AD7EAF051845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375"/>
                <a:gridCol w="1754188"/>
                <a:gridCol w="1754188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ED43A-8B7F-4EFF-A083-597765CD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Which input pair gives a NAND output of 0?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977F2-AB17-477F-872A-B7C025D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DD0B1-AB58-4C35-8E14-FD54EBF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6 / 22</a:t>
            </a:r>
          </a:p>
        </p:txBody>
      </p:sp>
    </p:spTree>
    <p:extLst>
      <p:ext uri="{BB962C8B-B14F-4D97-AF65-F5344CB8AC3E}">
        <p14:creationId xmlns:p14="http://schemas.microsoft.com/office/powerpoint/2010/main" val="1305954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61DFD-8639-41A6-BB20-571972D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10.1–10.2 · NOR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9B260-4A93-445D-BF2E-506AC169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NOR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067B2-75B2-467F-B212-058DD20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Invert the output of OR.</a:t>
            </a:r>
          </a:p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Read inputs on the left and the output on the right.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B0FCD-C93C-4EAB-960C-9E9041243C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84450a3e74495"/>
          <a:stretch xmlns:a="http://schemas.openxmlformats.org/drawingml/2006/main"/>
        </p:blipFill>
        <p:spPr>
          <a:xfrm xmlns:a="http://schemas.openxmlformats.org/drawingml/2006/main">
            <a:off x="914400" y="3005111"/>
            <a:ext cx="4476750" cy="184790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3D1E1-2740-4431-8B0F-014113AA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p.357, Figure 10.1, NOR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13A69-C384-45C5-8384-1CCA7A850B72}"/>
              </a:ext>
            </a:extLst>
          </p:cNvPr>
          <p:cNvGraphicFramePr/>
          <p:nvPr/>
        </p:nvGraphicFramePr>
        <p:xfrm>
          <a:off xmlns:a="http://schemas.openxmlformats.org/drawingml/2006/main" x="6477000" y="2667000"/>
          <a:ext xmlns:a="http://schemas.openxmlformats.org/drawingml/2006/main" cx="485775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49375"/>
                <a:gridCol w="1754188"/>
                <a:gridCol w="1754188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5C587-BE57-4A73-B495-5589E4D6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Which input pair gives a NOR output of 1?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5FF06-2A6C-41C1-A3E7-245E21B1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8050-054C-4826-9A77-1A456CE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7 / 22</a:t>
            </a:r>
          </a:p>
        </p:txBody>
      </p:sp>
    </p:spTree>
    <p:extLst>
      <p:ext uri="{BB962C8B-B14F-4D97-AF65-F5344CB8AC3E}">
        <p14:creationId xmlns:p14="http://schemas.microsoft.com/office/powerpoint/2010/main" val="594414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9105C-672D-4730-A130-E526AAB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10.2 · Gate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D48B5-49FA-427F-B967-2431C37C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Comparing the five two-input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575EC-CE09-4F75-9282-3F9E03E4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AND: both 1. OR: at least one 1. XOR: exactly one 1.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NAND is NOT AND; NOR is NOT OR.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NOT reverses its single input: 0 → 1 and 1 → 0.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3B754-20D2-4F03-99D1-F81E57284831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NAND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97849-A054-4112-8B76-23CE244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Which gates give 1 when both inputs are 1?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7E077-E2F9-440D-A086-C1BBE26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E2761-F5BD-4035-9C0D-A5D3E63C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8 / 22</a:t>
            </a:r>
          </a:p>
        </p:txBody>
      </p:sp>
    </p:spTree>
    <p:extLst>
      <p:ext uri="{BB962C8B-B14F-4D97-AF65-F5344CB8AC3E}">
        <p14:creationId xmlns:p14="http://schemas.microsoft.com/office/powerpoint/2010/main" val="544128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196C9-9CFE-4ECF-AE4A-DEDB694B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Input enumeration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F5AAC-F3F5-4520-A169-0177A14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Truth-table input combinations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19C6-5A01-4624-B668-70590FE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n independent inputs, list 2^n combinations.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Three inputs require eight rows, from 000 to 111.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43287-D2DB-42C5-8663-52597681F003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BB3D7-E105-440B-B845-5D659FFB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What changes fastest in this ordering?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1A516-2A8E-47CA-AFA5-88D9391B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3959C-9654-4F2E-8DCB-9978C4A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9 / 22</a:t>
            </a:r>
          </a:p>
        </p:txBody>
      </p:sp>
    </p:spTree>
    <p:extLst>
      <p:ext uri="{BB962C8B-B14F-4D97-AF65-F5344CB8AC3E}">
        <p14:creationId xmlns:p14="http://schemas.microsoft.com/office/powerpoint/2010/main" val="1173857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0C6BA-90DC-47E1-9E5E-9B44080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Statement to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C6191-F5A1-4A2A-B247-2A52348B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An alarm 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666A4-4D91-40F6-BCFA-9561BE6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= door sensor active; B = window sensor active; C = alarm disabled.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8FABF-3330-4F6A-9E79-AB3A6AE3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alarm sounds if either sensor is active AND the alarm is not disabled.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D6FA0-8A30-465F-A695-E1932C27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Write the expression before drawing the circuit.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DBA5-74B5-4627-A6AB-5EE506E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P = A OR B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Q = NOT C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X = P AND 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B8AC3-32B4-4CBB-A8C5-BB26D3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Write the alarm expression using A, B and 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3216-FFE0-474A-B959-8D18010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F47C5-3474-44DC-9671-57243F28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569129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4D8D3-9C20-4F41-85B5-98F67195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Worked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C3CB0-6D85-418A-BA6D-D96F7A0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Alarm: intermediate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1C9BB-B0D6-4370-B789-BC498D77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= door active. B = window active. C = alarm disabled.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 = A OR B. Q = NOT C. X = P AND Q.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E124-5A64-488C-8B7A-D28A010E13CA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2185"/>
                <a:gridCol w="1406769"/>
                <a:gridCol w="1406769"/>
                <a:gridCol w="1406769"/>
                <a:gridCol w="1406769"/>
                <a:gridCol w="1406769"/>
                <a:gridCol w="1406769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sensor active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Door active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Door active, disabled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6C550-BD68-4A9E-964D-FFA78595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For A = 1, B = 0, C = 1, find P, Q and 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51611-5F68-48EE-98BC-CEB5DFAB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A29C4-1BE0-4719-82E0-FBDB49E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070467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B4FFC-09C7-44A4-8739-99D69264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Expression to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77B01-C177-427B-A2F1-BB16BC6B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Alarm: the complete truth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1B8B2-E659-4B97-90EC-9271ADC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List all eight inputs in binary counting order.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Compute P and Q before computing X.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complete truth table includes every combination once.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703C6-2379-418A-8EB8-EC90C3A831E3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 = A OR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 = NOT 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E4BC6-B506-41A5-9FE2-BED7BBA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Why is X = 0 for A = 1, B = 1, C = 1?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6E943-BD8E-45F0-8B3F-54509728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C03EB-9BBD-475A-887E-6DE333E2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495360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4842B-C39B-4DF7-860B-42ED0EA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Table to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D7707-ABB2-44EE-B30E-4E9A66B4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An expression from output-1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C903-4AB1-4255-A2A1-584C1803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3055B-843F-44E7-B1C4-E604BE2D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each output-1 row, create an AND term matching its input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B4571-CC2E-478B-AC10-E70AA444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ACD1F-DB48-4088-8F76-9DD8C93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NOT for a 0 input and the unchanged variable for a 1 input.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8FF0C-5C84-4FEE-9FA4-E9452765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4B0E7-81D4-41FA-9709-C46C3C4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Join those row terms with 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48D12-8255-4CC6-922B-B26FCCC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For two inputs, only 01 and 10 give output 1. Write an expression.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A47FA-DE49-4AF0-8E49-87EE057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04F31-C760-4E89-9CD8-36EDA02B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20027620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1C6C2-1EE2-4B3F-9769-45CC799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Table to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64B89-5DE3-4FC8-A7FD-042BF5C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Truth table to expression: a 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F5EC7-A05D-4F2D-A002-A5D5084A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only output-1 rows are 01 and 10.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Write one AND term for each selected row, then join with OR.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6163F-DCAB-41A4-81E8-0950D5C1A116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3647"/>
                <a:gridCol w="1613647"/>
                <a:gridCol w="1613647"/>
                <a:gridCol w="6131859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 for an output-1 row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A AND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AND NOT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C48D4-670B-4F97-899D-5888933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Write an expression without using XOR.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F8ABF-C6E0-41EA-B3C1-EBCA5B2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BAF0-9295-4585-9665-10EED98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797810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FD571-E8E8-4C99-BDC5-9104222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Expression to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5C30-FD5D-4B24-A70F-AC0D158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An expression becomes a circuit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9A331-B363-4679-A23B-C9185CDC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This branch represents (NOT S AND T).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CD515-A29D-4D40-AC56-6F1F5C7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S passes through NOT before entering 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9D1C7-41AB-4392-BEFC-2984872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 enters the other AND input directly.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4520C-44B2-4F22-A1FE-96A85AC84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5a364fd364a7f"/>
          <a:stretch xmlns:a="http://schemas.openxmlformats.org/drawingml/2006/main"/>
        </p:blipFill>
        <p:spPr>
          <a:xfrm xmlns:a="http://schemas.openxmlformats.org/drawingml/2006/main">
            <a:off x="4953000" y="2450338"/>
            <a:ext cx="6629400" cy="21287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2BCCD-8BF6-4501-A4E6-9A760000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p.373, Figure 10.28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60087-8CB3-4EED-95EF-E23BA87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For S = 0 and T = 1, what is the branch output?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F7A9E-F418-4960-9833-ADD98B1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BC320-8250-443E-8C61-8AA9D923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39498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D84D5-F239-495D-AE37-89F797FF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Circuit to expression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D8B2D-5219-420E-9626-D1209E8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Combining two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4400F-C794-4682-83B5-2E36592D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upper branch is NOT S AND 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F6AF8-1DBF-41AD-9A5B-19E54D09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lower branch is S AND 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088B9-FA54-43E4-A547-F2EF8297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OR combines their two outputs.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EB818-0EEF-46DC-9EFA-7D0189869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1847cd2e848aa"/>
          <a:stretch xmlns:a="http://schemas.openxmlformats.org/drawingml/2006/main"/>
        </p:blipFill>
        <p:spPr>
          <a:xfrm xmlns:a="http://schemas.openxmlformats.org/drawingml/2006/main">
            <a:off x="4953000" y="1967865"/>
            <a:ext cx="6629400" cy="30937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12497-82D1-45FE-B8C7-59720B9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p.373, Figure 10.31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B947A-1A08-4DC1-9D85-D14AC2C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Write the expression shown by this circuit.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1C38C-E832-4B91-B80E-2E2F357C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CC36A-07A3-43E2-97C5-DDF958C1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3952796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2093B-2485-4B60-B82B-AB73255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Complete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2C9C5-2750-4E3B-B574-C1A9B5E7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A circuit with three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EF869-FE48-41E7-ACB8-2FBE8CA7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A third branch adds (NOT T AND W).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2BB7B-1ABB-4322-8A3E-DBB179E1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Two-input OR gates join the three branch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D36E0-5A8E-447C-8606-DBAA7B8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857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 circuit retains every branch in the given expression.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261EB-C454-4951-B0E1-37D172063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f51a110ff4efa"/>
          <a:stretch xmlns:a="http://schemas.openxmlformats.org/drawingml/2006/main"/>
        </p:blipFill>
        <p:spPr>
          <a:xfrm xmlns:a="http://schemas.openxmlformats.org/drawingml/2006/main">
            <a:off x="4953000" y="1665859"/>
            <a:ext cx="6629400" cy="36977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B6113-F0F5-4602-9432-A8131F6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62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Hodder p.374, Figure 10.32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37C2-59DD-4426-98E6-B4B940A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How many NOT, AND and OR gates appear?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D3E7-2E52-4015-B6C8-0550BDD6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73C89-9BB8-4541-9992-5C464F8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9743875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FB36D-8AC3-42FD-BC3E-45E6D835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Circuit to truth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F7165-AB48-4404-9F96-8DD7D79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Circuit trace: named intermediate values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B3745-349D-4D9E-A063-88F808F0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 = NOT S AND T. Q = S AND W. R = NOT T AND W.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Final output X = (P OR Q) OR R.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43A85-634D-4BAA-A679-071D3293054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E8884-C8B6-43E1-AE6F-EFDDB7E1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For S = 0, T = 1, W = 0, which branch makes X equal 1?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8CD1-828E-4A4E-BED4-FE6FF8B9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BF827-EA2A-431B-B386-2DF9C56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5303143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C5F37-6B5E-4811-A282-2BF016B9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Expression to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E1F64-6D2B-461D-ABA4-3EA1C2C4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Constructing a circuit from an 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74725-1131-4C8C-8BCF-5F68FAE6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at most two inputs per non-NOT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5DDB3-4E66-4DD7-A8AA-1734D04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Build longer expressions from a sequence of two-input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DF693-D5C0-48FE-8557-0B3B47B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571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For 2026–2028, draw the statement as given without simplification.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19B73-DC4E-4EDC-8397-DFC24E4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81150"/>
            <a:ext cx="7115175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P = A AND B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Q = NOT A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R = Q AND C</a:t>
            </a:r>
          </a:p>
          <a:p xmlns:a="http://schemas.openxmlformats.org/drawingml/2006/main">
            <a:pPr>
              <a:defRPr sz="1800" b="0">
                <a:solidFill>
                  <a:srgbClr val="16485B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6485B"/>
                </a:solidFill>
                <a:latin typeface="Menlo"/>
                <a:ea typeface="Menlo"/>
                <a:cs typeface="Menlo"/>
              </a:rPr>
              <a:t>X = P OR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D952D-A3B0-4604-AFC8-28040D22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How do you build (A AND B) OR (NOT A AND C)?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6E824-405A-44AF-929A-1919936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03358-5AA0-44D0-8152-6B6FA2B0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6925688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6155F-AA2E-4299-B351-97B7C183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Independent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9925A-A909-40CE-9F5D-E9B2DB49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Independent circuit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067D5-D566-4303-82A4-77E065B7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BB45E-E53B-4E42-9738-22E7B59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Name every intermediate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A74A9-9E98-4502-BF66-1544753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2D01D-9533-4AC3-B210-C8049EAD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Trace one test input through all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0BFD6-5223-4387-932A-4E932A2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5813D-BF1F-4143-9C2B-00647DFA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Then complete the truth table and compare it with the problem statement.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8B084-6D7E-463B-833B-2A4110A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For (A AND B) OR (NOT A AND C), find X when A = 0, B = 1, C = 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E7623-99D9-462A-8EFB-66E9E981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29F45-3517-4BBB-8763-8C01720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1219460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FAD6-92BE-4237-8CBF-5CB97C3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Model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95C15-9008-4E33-9BFC-B23CDFB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Circuit task: model truth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91769-1057-41D4-AE52-CC2F6A16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P = A AND B. Q = NOT A. R = Q AND C.</a:t>
            </a:r>
          </a:p>
          <a:p xmlns:a="http://schemas.openxmlformats.org/drawingml/2006/main">
            <a:pPr>
              <a:def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X = P OR R. All eight combinations appear once.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73437-9DD5-46EE-90E4-648C7D6F996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T w="9525">
                      <a:solidFill>
                        <a:srgbClr val="D4DBE8"/>
                      </a:solidFill>
                      <a:prstDash val="solid"/>
                    </a:lnT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8D326A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4DBE8"/>
                      </a:solidFill>
                      <a:prstDash val="solid"/>
                    </a:lnL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132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4DBE8"/>
                      </a:solidFill>
                      <a:prstDash val="solid"/>
                    </a:lnR>
                    <a:lnB w="9525">
                      <a:solidFill>
                        <a:srgbClr val="D4DBE8"/>
                      </a:solidFill>
                      <a:prstDash val="soli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9E285-124A-4A77-83C3-BD644BB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Describe how A controls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E6DB-ECBA-4FE0-B951-5C72888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589CC-87C6-4CB9-B5EA-F45AC092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2343368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F14C1-8CB6-47AD-B04A-2D82415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CHAPTER 10   10.3 ·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1C656-F13B-42EB-A021-4DAEF74F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6253D"/>
                </a:solidFill>
                <a:latin typeface="Helvetica Neue"/>
                <a:ea typeface="Helvetica Neue"/>
                <a:cs typeface="Helvetica Neue"/>
              </a:rPr>
              <a:t>Logic-circuit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4DC8-DDD8-47AE-8689-D7B5BA46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FBCF-D581-462A-8BD5-3A95D373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Use one input for NOT and two for each other required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2E14E-9194-4CF8-AB05-561CF2DA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0176E-3093-42E9-B7B6-DE78F750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1940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Label external inputs, intermediate results and the final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1A3B4-1EF2-42C4-B993-BF04D1B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6F17A-CA45-49A9-9FFB-F516987E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019550"/>
            <a:ext cx="981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1324B"/>
                </a:solidFill>
                <a:latin typeface="Helvetica Neue"/>
                <a:ea typeface="Helvetica Neue"/>
                <a:cs typeface="Helvetica Neue"/>
              </a:rPr>
              <a:t>Keep all branches required by the original statement.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80661-C227-4F5E-AE95-2C52A65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D326A"/>
                </a:solidFill>
                <a:latin typeface="Helvetica Neue"/>
                <a:ea typeface="Helvetica Neue"/>
                <a:cs typeface="Helvetica Neue"/>
              </a:rPr>
              <a:t>CHECK  What does a small circle on a gate’s output mean?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7C0C1-4523-4188-9A86-DFC8F296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IGCSE 0478   2026–2028   /   Answers in speaker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80472-26B8-46A1-8105-44EBEBDB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6008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7758A"/>
                </a:solidFill>
                <a:latin typeface="Helvetica Neue"/>
                <a:ea typeface="Helvetica Neue"/>
                <a:cs typeface="Helvetica Neue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517619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2026-10-13T08:07:14.3610000Z</dcterms:created>
  <dcterms:modified xsi:type="dcterms:W3CDTF">2026-10-13T08:07:14.3610000Z</dcterms:modified>
</coreProperties>
</file>