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0ad0b432624792" /><Relationship Type="http://schemas.openxmlformats.org/officeDocument/2006/relationships/extended-properties" Target="/docProps/app.xml" Id="Rd736f10d137e4d2a" /><Relationship Type="http://schemas.openxmlformats.org/officeDocument/2006/relationships/officeDocument" Target="/ppt/presentation.xml" Id="R65bcd216e96a4d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6084baa03d64e11"/>
  </p:sldMasterIdLst>
  <p:notesMasterIdLst>
    <p:notesMasterId xmlns:r="http://schemas.openxmlformats.org/officeDocument/2006/relationships" r:id="Rdf22a50cfe0e4460"/>
  </p:notesMasterIdLst>
  <p:sldIdLst>
    <p:sldId xmlns:r="http://schemas.openxmlformats.org/officeDocument/2006/relationships" id="256" r:id="Rcf8807a983834d72"/>
    <p:sldId xmlns:r="http://schemas.openxmlformats.org/officeDocument/2006/relationships" id="257" r:id="R0f966e983fc94f09"/>
    <p:sldId xmlns:r="http://schemas.openxmlformats.org/officeDocument/2006/relationships" id="258" r:id="R9c2a3f48909e4ba1"/>
    <p:sldId xmlns:r="http://schemas.openxmlformats.org/officeDocument/2006/relationships" id="259" r:id="R4a4fa0c7be124e0f"/>
    <p:sldId xmlns:r="http://schemas.openxmlformats.org/officeDocument/2006/relationships" id="260" r:id="R745d142643f64df6"/>
    <p:sldId xmlns:r="http://schemas.openxmlformats.org/officeDocument/2006/relationships" id="261" r:id="R3ce73a5be5564256"/>
    <p:sldId xmlns:r="http://schemas.openxmlformats.org/officeDocument/2006/relationships" id="262" r:id="R63f63a73f2df4353"/>
    <p:sldId xmlns:r="http://schemas.openxmlformats.org/officeDocument/2006/relationships" id="263" r:id="R7f2c26adef5e49e9"/>
    <p:sldId xmlns:r="http://schemas.openxmlformats.org/officeDocument/2006/relationships" id="264" r:id="Rf438fa1803014f54"/>
    <p:sldId xmlns:r="http://schemas.openxmlformats.org/officeDocument/2006/relationships" id="265" r:id="Rb893043d6c824122"/>
    <p:sldId xmlns:r="http://schemas.openxmlformats.org/officeDocument/2006/relationships" id="266" r:id="R49e23ab9d69941d0"/>
    <p:sldId xmlns:r="http://schemas.openxmlformats.org/officeDocument/2006/relationships" id="267" r:id="Ra10c1fca4d1c49b7"/>
    <p:sldId xmlns:r="http://schemas.openxmlformats.org/officeDocument/2006/relationships" id="268" r:id="R05746ea6e7234190"/>
    <p:sldId xmlns:r="http://schemas.openxmlformats.org/officeDocument/2006/relationships" id="269" r:id="Rf25e4dae72cc47aa"/>
    <p:sldId xmlns:r="http://schemas.openxmlformats.org/officeDocument/2006/relationships" id="270" r:id="Rc4b3642ad17d40c7"/>
    <p:sldId xmlns:r="http://schemas.openxmlformats.org/officeDocument/2006/relationships" id="271" r:id="R1f5d4f5e5a2c415f"/>
    <p:sldId xmlns:r="http://schemas.openxmlformats.org/officeDocument/2006/relationships" id="272" r:id="Rd7acdf4c839f4c0f"/>
    <p:sldId xmlns:r="http://schemas.openxmlformats.org/officeDocument/2006/relationships" id="273" r:id="Rb8ee74c3b8eb474a"/>
    <p:sldId xmlns:r="http://schemas.openxmlformats.org/officeDocument/2006/relationships" id="274" r:id="Ra73d40b94e464c3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36637459c034797" /><Relationship Type="http://schemas.openxmlformats.org/officeDocument/2006/relationships/slideMaster" Target="/ppt/slideMasters/slideMaster1.xml" Id="Rb6084baa03d64e11" /><Relationship Type="http://schemas.openxmlformats.org/officeDocument/2006/relationships/notesMaster" Target="/ppt/notesMasters/notesMaster1.xml" Id="Rdf22a50cfe0e4460" /><Relationship Type="http://schemas.openxmlformats.org/officeDocument/2006/relationships/presProps" Target="/ppt/presProps.xml" Id="R79fe1daf71084dd9" /><Relationship Type="http://schemas.openxmlformats.org/officeDocument/2006/relationships/tableStyles" Target="/ppt/tableStyles.xml" Id="Redb3f80bbdba428a" /><Relationship Type="http://schemas.openxmlformats.org/officeDocument/2006/relationships/slide" Target="/ppt/slides/slide1.xml" Id="Rcf8807a983834d72" /><Relationship Type="http://schemas.openxmlformats.org/officeDocument/2006/relationships/slide" Target="/ppt/slides/slide2.xml" Id="R0f966e983fc94f09" /><Relationship Type="http://schemas.openxmlformats.org/officeDocument/2006/relationships/slide" Target="/ppt/slides/slide3.xml" Id="R9c2a3f48909e4ba1" /><Relationship Type="http://schemas.openxmlformats.org/officeDocument/2006/relationships/slide" Target="/ppt/slides/slide4.xml" Id="R4a4fa0c7be124e0f" /><Relationship Type="http://schemas.openxmlformats.org/officeDocument/2006/relationships/slide" Target="/ppt/slides/slide5.xml" Id="R745d142643f64df6" /><Relationship Type="http://schemas.openxmlformats.org/officeDocument/2006/relationships/slide" Target="/ppt/slides/slide6.xml" Id="R3ce73a5be5564256" /><Relationship Type="http://schemas.openxmlformats.org/officeDocument/2006/relationships/slide" Target="/ppt/slides/slide7.xml" Id="R63f63a73f2df4353" /><Relationship Type="http://schemas.openxmlformats.org/officeDocument/2006/relationships/slide" Target="/ppt/slides/slide8.xml" Id="R7f2c26adef5e49e9" /><Relationship Type="http://schemas.openxmlformats.org/officeDocument/2006/relationships/slide" Target="/ppt/slides/slide9.xml" Id="Rf438fa1803014f54" /><Relationship Type="http://schemas.openxmlformats.org/officeDocument/2006/relationships/slide" Target="/ppt/slides/slide10.xml" Id="Rb893043d6c824122" /><Relationship Type="http://schemas.openxmlformats.org/officeDocument/2006/relationships/slide" Target="/ppt/slides/slide11.xml" Id="R49e23ab9d69941d0" /><Relationship Type="http://schemas.openxmlformats.org/officeDocument/2006/relationships/slide" Target="/ppt/slides/slide12.xml" Id="Ra10c1fca4d1c49b7" /><Relationship Type="http://schemas.openxmlformats.org/officeDocument/2006/relationships/slide" Target="/ppt/slides/slide13.xml" Id="R05746ea6e7234190" /><Relationship Type="http://schemas.openxmlformats.org/officeDocument/2006/relationships/slide" Target="/ppt/slides/slide14.xml" Id="Rf25e4dae72cc47aa" /><Relationship Type="http://schemas.openxmlformats.org/officeDocument/2006/relationships/slide" Target="/ppt/slides/slide15.xml" Id="Rc4b3642ad17d40c7" /><Relationship Type="http://schemas.openxmlformats.org/officeDocument/2006/relationships/slide" Target="/ppt/slides/slide16.xml" Id="R1f5d4f5e5a2c415f" /><Relationship Type="http://schemas.openxmlformats.org/officeDocument/2006/relationships/slide" Target="/ppt/slides/slide17.xml" Id="Rd7acdf4c839f4c0f" /><Relationship Type="http://schemas.openxmlformats.org/officeDocument/2006/relationships/slide" Target="/ppt/slides/slide18.xml" Id="Rb8ee74c3b8eb474a" /><Relationship Type="http://schemas.openxmlformats.org/officeDocument/2006/relationships/slide" Target="/ppt/slides/slide19.xml" Id="Ra73d40b94e464c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ba026a647c44d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cb9643b3f9f4d3a" /><Relationship Type="http://schemas.openxmlformats.org/officeDocument/2006/relationships/notesMaster" Target="/ppt/notesMasters/notesMaster1.xml" Id="R5dcffb2ee11049e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84435a16870450f" /><Relationship Type="http://schemas.openxmlformats.org/officeDocument/2006/relationships/notesMaster" Target="/ppt/notesMasters/notesMaster1.xml" Id="R2e844e376385484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5d79d3e50fc44f7" /><Relationship Type="http://schemas.openxmlformats.org/officeDocument/2006/relationships/notesMaster" Target="/ppt/notesMasters/notesMaster1.xml" Id="Ra1ad032cca314c7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a123ae2acf944e2" /><Relationship Type="http://schemas.openxmlformats.org/officeDocument/2006/relationships/notesMaster" Target="/ppt/notesMasters/notesMaster1.xml" Id="R90ee3be472014c6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9b9db4a71b24e64" /><Relationship Type="http://schemas.openxmlformats.org/officeDocument/2006/relationships/notesMaster" Target="/ppt/notesMasters/notesMaster1.xml" Id="Rb64e8a8d6f0445a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535026afd5941c3" /><Relationship Type="http://schemas.openxmlformats.org/officeDocument/2006/relationships/notesMaster" Target="/ppt/notesMasters/notesMaster1.xml" Id="R054bc39021074b3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17533ab134b462d" /><Relationship Type="http://schemas.openxmlformats.org/officeDocument/2006/relationships/notesMaster" Target="/ppt/notesMasters/notesMaster1.xml" Id="Ra9282a288ed148b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502c5a7fb0c42c1" /><Relationship Type="http://schemas.openxmlformats.org/officeDocument/2006/relationships/notesMaster" Target="/ppt/notesMasters/notesMaster1.xml" Id="R70f9f15baecb40e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c60703900af4b1f" /><Relationship Type="http://schemas.openxmlformats.org/officeDocument/2006/relationships/notesMaster" Target="/ppt/notesMasters/notesMaster1.xml" Id="R8f9d82f9485e4ab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bd7f2a8e0eb4b1b" /><Relationship Type="http://schemas.openxmlformats.org/officeDocument/2006/relationships/notesMaster" Target="/ppt/notesMasters/notesMaster1.xml" Id="R6a75ec5f56634da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11263de762a40ca" /><Relationship Type="http://schemas.openxmlformats.org/officeDocument/2006/relationships/notesMaster" Target="/ppt/notesMasters/notesMaster1.xml" Id="R6045368086c441d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97217efe8ed4235" /><Relationship Type="http://schemas.openxmlformats.org/officeDocument/2006/relationships/notesMaster" Target="/ppt/notesMasters/notesMaster1.xml" Id="R80f522a38a65430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309a7e3132d487e" /><Relationship Type="http://schemas.openxmlformats.org/officeDocument/2006/relationships/notesMaster" Target="/ppt/notesMasters/notesMaster1.xml" Id="R456138ae68f341e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e59418d1c504adc" /><Relationship Type="http://schemas.openxmlformats.org/officeDocument/2006/relationships/notesMaster" Target="/ppt/notesMasters/notesMaster1.xml" Id="R11fcabb37bcc4d5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445235b4ecc4990" /><Relationship Type="http://schemas.openxmlformats.org/officeDocument/2006/relationships/notesMaster" Target="/ppt/notesMasters/notesMaster1.xml" Id="R20a1a4ed205a4bb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7a2307ec568425d" /><Relationship Type="http://schemas.openxmlformats.org/officeDocument/2006/relationships/notesMaster" Target="/ppt/notesMasters/notesMaster1.xml" Id="Rfe75c1fe390c4dc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1d4099dc28c4f27" /><Relationship Type="http://schemas.openxmlformats.org/officeDocument/2006/relationships/notesMaster" Target="/ppt/notesMasters/notesMaster1.xml" Id="R43352d907186458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64b89ec61d34a7a" /><Relationship Type="http://schemas.openxmlformats.org/officeDocument/2006/relationships/notesMaster" Target="/ppt/notesMasters/notesMaster1.xml" Id="Ra90f01ed2a5d4ad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53c98ecedaa47f4" /><Relationship Type="http://schemas.openxmlformats.org/officeDocument/2006/relationships/notesMaster" Target="/ppt/notesMasters/notesMaster1.xml" Id="R10e97ed446a046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ANSWER</a:t>
            </a:r>
          </a:p>
          <a:p xmlns:a="http://schemas.openxmlformats.org/drawingml/2006/main">
            <a:r>
              <a:t>A field. A complete row describes one book.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PROMPT</a:t>
            </a:r>
          </a:p>
          <a:p xmlns:a="http://schemas.openxmlformats.org/drawingml/2006/main">
            <a:r>
              <a:t>Ask students to predict first, explain their reasoning, then compare with the model answer. Use the linked chapter workbook for independent practice.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User-supplied Cambridge IGCSE Computer Science 0478 syllabus 2026–2028 Version 6, chapter 9 and Paper 2 conventions, in resources/chapters/09/syllabus.pdf. CUP second edition and Hodder Education 2021 chapter 9. Exact source-page mappings: resources/catalog.json. Image: Hodder p.340, Figure 9.1; cropped from the supplied textbook.</a:t>
            </a:r>
          </a:p>
          <a:p xmlns:a="http://schemas.openxmlformats.org/drawingml/2006/main">
            <a:r>
              <a:t>Original teaching examples and model answers unless a textbook figure is credited. Model answers are not official mark schemes.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ANSWER</a:t>
            </a:r>
          </a:p>
          <a:p xmlns:a="http://schemas.openxmlformats.org/drawingml/2006/main">
            <a:r>
              <a:t>Price is a field. The complete row for B01 is a record.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PROMPT</a:t>
            </a:r>
          </a:p>
          <a:p xmlns:a="http://schemas.openxmlformats.org/drawingml/2006/main">
            <a:r>
              <a:t>Use this same BOOK data throughout the lesson and downloadable SQL practical.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User-supplied Cambridge IGCSE Computer Science 0478 syllabus 2026–2028 Version 6, chapter 9 and Paper 2 conventions, in resources/chapters/09/syllabus.pdf. CUP second edition and Hodder Education 2021 chapter 9. Exact source-page mappings: resources/catalog.json. </a:t>
            </a:r>
          </a:p>
          <a:p xmlns:a="http://schemas.openxmlformats.org/drawingml/2006/main">
            <a:r>
              <a:t>Original teaching examples and model answers unless a textbook figure is credited. Model answers are not official mark schemes.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ANSWER</a:t>
            </a:r>
          </a:p>
          <a:p xmlns:a="http://schemas.openxmlformats.org/drawingml/2006/main">
            <a:r>
              <a:t>A numeric type check and a range check such as Price &gt;= 0. A valid number can still be the wrong price.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PROMPT</a:t>
            </a:r>
          </a:p>
          <a:p xmlns:a="http://schemas.openxmlformats.org/drawingml/2006/main">
            <a:r>
              <a:t>Ask students to predict first, explain their reasoning, then compare with the model answer. Use the linked chapter workbook for independent practice.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User-supplied Cambridge IGCSE Computer Science 0478 syllabus 2026–2028 Version 6, chapter 9 and Paper 2 conventions, in resources/chapters/09/syllabus.pdf. CUP second edition and Hodder Education 2021 chapter 9. Exact source-page mappings: resources/catalog.json. </a:t>
            </a:r>
          </a:p>
          <a:p xmlns:a="http://schemas.openxmlformats.org/drawingml/2006/main">
            <a:r>
              <a:t>Original teaching examples and model answers unless a textbook figure is credited. Model answers are not official mark schemes.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ANSWER</a:t>
            </a:r>
          </a:p>
          <a:p xmlns:a="http://schemas.openxmlformats.org/drawingml/2006/main">
            <a:r>
              <a:t>Leading zeros and symbols matter, and arithmetic has no useful meaning for the identifier.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PROMPT</a:t>
            </a:r>
          </a:p>
          <a:p xmlns:a="http://schemas.openxmlformats.org/drawingml/2006/main">
            <a:r>
              <a:t>Ask students to predict first, explain their reasoning, then compare with the model answer. Use the linked chapter workbook for independent practice.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User-supplied Cambridge IGCSE Computer Science 0478 syllabus 2026–2028 Version 6, chapter 9 and Paper 2 conventions, in resources/chapters/09/syllabus.pdf. CUP second edition and Hodder Education 2021 chapter 9. Exact source-page mappings: resources/catalog.json. </a:t>
            </a:r>
          </a:p>
          <a:p xmlns:a="http://schemas.openxmlformats.org/drawingml/2006/main">
            <a:r>
              <a:t>Original teaching examples and model answers unless a textbook figure is credited. Model answers are not official mark schemes.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ANSWER</a:t>
            </a:r>
          </a:p>
          <a:p xmlns:a="http://schemas.openxmlformats.org/drawingml/2006/main">
            <a:r>
              <a:t>Different books or editions can share a title. BookID can be assigned a unique value to each record.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PROMPT</a:t>
            </a:r>
          </a:p>
          <a:p xmlns:a="http://schemas.openxmlformats.org/drawingml/2006/main">
            <a:r>
              <a:t>Ask students to predict first, explain their reasoning, then compare with the model answer. Use the linked chapter workbook for independent practice.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User-supplied Cambridge IGCSE Computer Science 0478 syllabus 2026–2028 Version 6, chapter 9 and Paper 2 conventions, in resources/chapters/09/syllabus.pdf. CUP second edition and Hodder Education 2021 chapter 9. Exact source-page mappings: resources/catalog.json. </a:t>
            </a:r>
          </a:p>
          <a:p xmlns:a="http://schemas.openxmlformats.org/drawingml/2006/main">
            <a:r>
              <a:t>Original teaching examples and model answers unless a textbook figure is credited. Model answers are not official mark schemes.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ANSWER</a:t>
            </a:r>
          </a:p>
          <a:p xmlns:a="http://schemas.openxmlformats.org/drawingml/2006/main">
            <a:r>
              <a:t>No. Quantities can repeat and change. A dedicated BookID is a better choice.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PROMPT</a:t>
            </a:r>
          </a:p>
          <a:p xmlns:a="http://schemas.openxmlformats.org/drawingml/2006/main">
            <a:r>
              <a:t>Ask students to predict first, explain their reasoning, then compare with the model answer. Use the linked chapter workbook for independent practice.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User-supplied Cambridge IGCSE Computer Science 0478 syllabus 2026–2028 Version 6, chapter 9 and Paper 2 conventions, in resources/chapters/09/syllabus.pdf. CUP second edition and Hodder Education 2021 chapter 9. Exact source-page mappings: resources/catalog.json. </a:t>
            </a:r>
          </a:p>
          <a:p xmlns:a="http://schemas.openxmlformats.org/drawingml/2006/main">
            <a:r>
              <a:t>Original teaching examples and model answers unless a textbook figure is credited. Model answers are not official mark schemes.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ANSWER</a:t>
            </a:r>
          </a:p>
          <a:p xmlns:a="http://schemas.openxmlformats.org/drawingml/2006/main">
            <a:r>
              <a:t>No. It only rejects negative prices.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PROMPT</a:t>
            </a:r>
          </a:p>
          <a:p xmlns:a="http://schemas.openxmlformats.org/drawingml/2006/main">
            <a:r>
              <a:t>Ask students to predict first, explain their reasoning, then compare with the model answer. Use the linked chapter workbook for independent practice.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User-supplied Cambridge IGCSE Computer Science 0478 syllabus 2026–2028 Version 6, chapter 9 and Paper 2 conventions, in resources/chapters/09/syllabus.pdf. CUP second edition and Hodder Education 2021 chapter 9. Exact source-page mappings: resources/catalog.json. </a:t>
            </a:r>
          </a:p>
          <a:p xmlns:a="http://schemas.openxmlformats.org/drawingml/2006/main">
            <a:r>
              <a:t>Original teaching examples and model answers unless a textbook figure is credited. Model answers are not official mark schemes.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ANSWER</a:t>
            </a:r>
          </a:p>
          <a:p xmlns:a="http://schemas.openxmlformats.org/drawingml/2006/main">
            <a:r>
              <a:t>Algorithms 12; Logic 9; Databases 15. The displayed row order is not guaranteed without ORDER BY.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PROMPT</a:t>
            </a:r>
          </a:p>
          <a:p xmlns:a="http://schemas.openxmlformats.org/drawingml/2006/main">
            <a:r>
              <a:t>Students predict the result on paper before running the supplied SQLite exercise.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User-supplied Cambridge IGCSE Computer Science 0478 syllabus 2026–2028 Version 6, chapter 9 and Paper 2 conventions, in resources/chapters/09/syllabus.pdf. CUP second edition and Hodder Education 2021 chapter 9. Exact source-page mappings: resources/catalog.json. </a:t>
            </a:r>
          </a:p>
          <a:p xmlns:a="http://schemas.openxmlformats.org/drawingml/2006/main">
            <a:r>
              <a:t>Original teaching examples and model answers unless a textbook figure is credited. Model answers are not official mark schemes.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ANSWER</a:t>
            </a:r>
          </a:p>
          <a:p xmlns:a="http://schemas.openxmlformats.org/drawingml/2006/main">
            <a:r>
              <a:t>Its InStock value is FALSE.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PROMPT</a:t>
            </a:r>
          </a:p>
          <a:p xmlns:a="http://schemas.openxmlformats.org/drawingml/2006/main">
            <a:r>
              <a:t>Ask students to predict first, explain their reasoning, then compare with the model answer. Use the linked chapter workbook for independent practice.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User-supplied Cambridge IGCSE Computer Science 0478 syllabus 2026–2028 Version 6, chapter 9 and Paper 2 conventions, in resources/chapters/09/syllabus.pdf. CUP second edition and Hodder Education 2021 chapter 9. Exact source-page mappings: resources/catalog.json. </a:t>
            </a:r>
          </a:p>
          <a:p xmlns:a="http://schemas.openxmlformats.org/drawingml/2006/main">
            <a:r>
              <a:t>Original teaching examples and model answers unless a textbook figure is credited. Model answers are not official mark schemes.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ANSWER</a:t>
            </a:r>
          </a:p>
          <a:p xmlns:a="http://schemas.openxmlformats.org/drawingml/2006/main">
            <a:r>
              <a:t>Yes. &gt;= includes the boundary value.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PROMPT</a:t>
            </a:r>
          </a:p>
          <a:p xmlns:a="http://schemas.openxmlformats.org/drawingml/2006/main">
            <a:r>
              <a:t>Ask students to predict first, explain their reasoning, then compare with the model answer. Use the linked chapter workbook for independent practice.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User-supplied Cambridge IGCSE Computer Science 0478 syllabus 2026–2028 Version 6, chapter 9 and Paper 2 conventions, in resources/chapters/09/syllabus.pdf. CUP second edition and Hodder Education 2021 chapter 9. Exact source-page mappings: resources/catalog.json. </a:t>
            </a:r>
          </a:p>
          <a:p xmlns:a="http://schemas.openxmlformats.org/drawingml/2006/main">
            <a:r>
              <a:t>Original teaching examples and model answers unless a textbook figure is credited. Model answers are not official mark schemes.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ANSWER</a:t>
            </a:r>
          </a:p>
          <a:p xmlns:a="http://schemas.openxmlformats.org/drawingml/2006/main">
            <a:r>
              <a:t>Databases (15), then Algorithms (12). Programming is excluded because InStock is FALSE.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PROMPT</a:t>
            </a:r>
          </a:p>
          <a:p xmlns:a="http://schemas.openxmlformats.org/drawingml/2006/main">
            <a:r>
              <a:t>Ask students to predict first, explain their reasoning, then compare with the model answer. Use the linked chapter workbook for independent practice.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User-supplied Cambridge IGCSE Computer Science 0478 syllabus 2026–2028 Version 6, chapter 9 and Paper 2 conventions, in resources/chapters/09/syllabus.pdf. CUP second edition and Hodder Education 2021 chapter 9. Exact source-page mappings: resources/catalog.json. </a:t>
            </a:r>
          </a:p>
          <a:p xmlns:a="http://schemas.openxmlformats.org/drawingml/2006/main">
            <a:r>
              <a:t>Original teaching examples and model answers unless a textbook figure is credited. Model answers are not official mark schemes.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ANSWER</a:t>
            </a:r>
          </a:p>
          <a:p xmlns:a="http://schemas.openxmlformats.org/drawingml/2006/main">
            <a:r>
              <a:t>Algorithms appears before Databases.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PROMPT</a:t>
            </a:r>
          </a:p>
          <a:p xmlns:a="http://schemas.openxmlformats.org/drawingml/2006/main">
            <a:r>
              <a:t>Ask students to predict first, explain their reasoning, then compare with the model answer. Use the linked chapter workbook for independent practice.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User-supplied Cambridge IGCSE Computer Science 0478 syllabus 2026–2028 Version 6, chapter 9 and Paper 2 conventions, in resources/chapters/09/syllabus.pdf. CUP second edition and Hodder Education 2021 chapter 9. Exact source-page mappings: resources/catalog.json. </a:t>
            </a:r>
          </a:p>
          <a:p xmlns:a="http://schemas.openxmlformats.org/drawingml/2006/main">
            <a:r>
              <a:t>Original teaching examples and model answers unless a textbook figure is credited. Model answers are not official mark schemes.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ANSWER</a:t>
            </a:r>
          </a:p>
          <a:p xmlns:a="http://schemas.openxmlformats.org/drawingml/2006/main">
            <a:r>
              <a:t>B03 and B04. B02 meets Price &gt; 14 but fails the stock condition.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PROMPT</a:t>
            </a:r>
          </a:p>
          <a:p xmlns:a="http://schemas.openxmlformats.org/drawingml/2006/main">
            <a:r>
              <a:t>Ask students to predict first, explain their reasoning, then compare with the model answer. Use the linked chapter workbook for independent practice.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User-supplied Cambridge IGCSE Computer Science 0478 syllabus 2026–2028 Version 6, chapter 9 and Paper 2 conventions, in resources/chapters/09/syllabus.pdf. CUP second edition and Hodder Education 2021 chapter 9. Exact source-page mappings: resources/catalog.json. </a:t>
            </a:r>
          </a:p>
          <a:p xmlns:a="http://schemas.openxmlformats.org/drawingml/2006/main">
            <a:r>
              <a:t>Original teaching examples and model answers unless a textbook figure is credited. Model answers are not official mark schemes.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ANSWER</a:t>
            </a:r>
          </a:p>
          <a:p xmlns:a="http://schemas.openxmlformats.org/drawingml/2006/main">
            <a:r>
              <a:t>B03 and B04.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PROMPT</a:t>
            </a:r>
          </a:p>
          <a:p xmlns:a="http://schemas.openxmlformats.org/drawingml/2006/main">
            <a:r>
              <a:t>Ask students to predict first, explain their reasoning, then compare with the model answer. Use the linked chapter workbook for independent practice.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User-supplied Cambridge IGCSE Computer Science 0478 syllabus 2026–2028 Version 6, chapter 9 and Paper 2 conventions, in resources/chapters/09/syllabus.pdf. CUP second edition and Hodder Education 2021 chapter 9. Exact source-page mappings: resources/catalog.json. </a:t>
            </a:r>
          </a:p>
          <a:p xmlns:a="http://schemas.openxmlformats.org/drawingml/2006/main">
            <a:r>
              <a:t>Original teaching examples and model answers unless a textbook figure is credited. Model answers are not official mark schemes.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ANSWER</a:t>
            </a:r>
          </a:p>
          <a:p xmlns:a="http://schemas.openxmlformats.org/drawingml/2006/main">
            <a:r>
              <a:t>COUNT(*) = 3; SUM(Price) = 36. COUNT(Price) counts non-null Price values rather than adding them.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PROMPT</a:t>
            </a:r>
          </a:p>
          <a:p xmlns:a="http://schemas.openxmlformats.org/drawingml/2006/main">
            <a:r>
              <a:t>Ask students to predict first, explain their reasoning, then compare with the model answer. Use the linked chapter workbook for independent practice.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User-supplied Cambridge IGCSE Computer Science 0478 syllabus 2026–2028 Version 6, chapter 9 and Paper 2 conventions, in resources/chapters/09/syllabus.pdf. CUP second edition and Hodder Education 2021 chapter 9. Exact source-page mappings: resources/catalog.json. </a:t>
            </a:r>
          </a:p>
          <a:p xmlns:a="http://schemas.openxmlformats.org/drawingml/2006/main">
            <a:r>
              <a:t>Original teaching examples and model answers unless a textbook figure is credited. Model answers are not official mark schemes.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ANSWER</a:t>
            </a:r>
          </a:p>
          <a:p xmlns:a="http://schemas.openxmlformats.org/drawingml/2006/main">
            <a:r>
              <a:t>No. There would still be three matching records. SUM would increase to 38.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PROMPT</a:t>
            </a:r>
          </a:p>
          <a:p xmlns:a="http://schemas.openxmlformats.org/drawingml/2006/main">
            <a:r>
              <a:t>Ask students to predict first, explain their reasoning, then compare with the model answer. Use the linked chapter workbook for independent practice.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User-supplied Cambridge IGCSE Computer Science 0478 syllabus 2026–2028 Version 6, chapter 9 and Paper 2 conventions, in resources/chapters/09/syllabus.pdf. CUP second edition and Hodder Education 2021 chapter 9. Exact source-page mappings: resources/catalog.json. </a:t>
            </a:r>
          </a:p>
          <a:p xmlns:a="http://schemas.openxmlformats.org/drawingml/2006/main">
            <a:r>
              <a:t>Original teaching examples and model answers unless a textbook figure is credited. Model answers are not official mark schemes.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ANSWER</a:t>
            </a:r>
          </a:p>
          <a:p xmlns:a="http://schemas.openxmlformats.org/drawingml/2006/main">
            <a:r>
              <a:t>SELECT Title FROM BOOK WHERE InStock = TRUE AND Price &lt; 16 ORDER BY Price ASCENDING; Result: Logic, Algorithms, Databases.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PROMPT</a:t>
            </a:r>
          </a:p>
          <a:p xmlns:a="http://schemas.openxmlformats.org/drawingml/2006/main">
            <a:r>
              <a:t>Exit task: design a single-table equipment-loan database with a suitable primary key, six field types across examples, validation and two queries. Homework: Hodder chapter 9 workbook and PMT 9. No JOIN is required for this syllabus.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User-supplied Cambridge IGCSE Computer Science 0478 syllabus 2026–2028 Version 6, chapter 9 and Paper 2 conventions, in resources/chapters/09/syllabus.pdf. CUP second edition and Hodder Education 2021 chapter 9. Exact source-page mappings: resources/catalog.json. </a:t>
            </a:r>
          </a:p>
          <a:p xmlns:a="http://schemas.openxmlformats.org/drawingml/2006/main">
            <a:r>
              <a:t>Original teaching examples and model answers unless a textbook figure is credited. Model answers are not official mark schemes.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ANSWER</a:t>
            </a:r>
          </a:p>
          <a:p xmlns:a="http://schemas.openxmlformats.org/drawingml/2006/main">
            <a:r>
              <a:t>Logic, Algorithms, Databases.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PROMPT</a:t>
            </a:r>
          </a:p>
          <a:p xmlns:a="http://schemas.openxmlformats.org/drawingml/2006/main">
            <a:r>
              <a:t>Ask students to predict first, explain their reasoning, then compare with the model answer. Use the linked chapter workbook for independent practice.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User-supplied Cambridge IGCSE Computer Science 0478 syllabus 2026–2028 Version 6, chapter 9 and Paper 2 conventions, in resources/chapters/09/syllabus.pdf. CUP second edition and Hodder Education 2021 chapter 9. Exact source-page mappings: resources/catalog.json. </a:t>
            </a:r>
          </a:p>
          <a:p xmlns:a="http://schemas.openxmlformats.org/drawingml/2006/main">
            <a:r>
              <a:t>Original teaching examples and model answers unless a textbook figure is credited. Model answers are not official mark schemes.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ANSWER</a:t>
            </a:r>
          </a:p>
          <a:p xmlns:a="http://schemas.openxmlformats.org/drawingml/2006/main">
            <a:r>
              <a:t>FROM. A query result does not itself change the stored records.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PROMPT</a:t>
            </a:r>
          </a:p>
          <a:p xmlns:a="http://schemas.openxmlformats.org/drawingml/2006/main">
            <a:r>
              <a:t>Ask students to predict first, explain their reasoning, then compare with the model answer. Use the linked chapter workbook for independent practice.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User-supplied Cambridge IGCSE Computer Science 0478 syllabus 2026–2028 Version 6, chapter 9 and Paper 2 conventions, in resources/chapters/09/syllabus.pdf. CUP second edition and Hodder Education 2021 chapter 9. Exact source-page mappings: resources/catalog.json. </a:t>
            </a:r>
          </a:p>
          <a:p xmlns:a="http://schemas.openxmlformats.org/drawingml/2006/main">
            <a:r>
              <a:t>Original teaching examples and model answers unless a textbook figure is credited. Model answers are not official mark schemes.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eac7c5ff46428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2e4a56bcff4ee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88a185e48b4c2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eb72f5e31b420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5dbd554e1c41d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38669173e3430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0D8DE9D-EE91-46EE-85DF-0BA7B39755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C7A7256-A400-403E-A25B-4622CC4F101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EBB451B-4D65-4BD7-8556-F809A3BBE2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8EC8085-1EB8-432A-8E68-913D186E2C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88103C4-F9DB-4058-B1EF-B2D223E2778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79DA42B-1F29-4484-843C-852303626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0C91697-F9EF-4829-84D1-8EF7899AB71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79C47DE-6E93-4F43-B0C4-0E7135C38A5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5B33D90-17B3-4006-836F-A251A83DC7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EE03A2A-186C-4EC0-84BA-CA542419117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abb356cf927415a" /><Relationship Type="http://schemas.openxmlformats.org/officeDocument/2006/relationships/slideLayout" Target="/ppt/slideLayouts/slideLayout1.xml" Id="R5977ce9898da4880" /><Relationship Type="http://schemas.openxmlformats.org/officeDocument/2006/relationships/slideLayout" Target="/ppt/slideLayouts/slideLayout2.xml" Id="Rd179fc44c54746ef" /><Relationship Type="http://schemas.openxmlformats.org/officeDocument/2006/relationships/slideLayout" Target="/ppt/slideLayouts/slideLayout3.xml" Id="R351c4da0f96948d5" /><Relationship Type="http://schemas.openxmlformats.org/officeDocument/2006/relationships/slideLayout" Target="/ppt/slideLayouts/slideLayout4.xml" Id="Rcdb66e00d967493a" /><Relationship Type="http://schemas.openxmlformats.org/officeDocument/2006/relationships/slideLayout" Target="/ppt/slideLayouts/slideLayout5.xml" Id="R5bece35fcd924a10" /><Relationship Type="http://schemas.openxmlformats.org/officeDocument/2006/relationships/slideLayout" Target="/ppt/slideLayouts/slideLayout6.xml" Id="R9b1b49f3fb58469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77ce9898da4880"/>
    <p:sldLayoutId xmlns:r="http://schemas.openxmlformats.org/officeDocument/2006/relationships" id="2147483650" r:id="Rd179fc44c54746ef"/>
    <p:sldLayoutId xmlns:r="http://schemas.openxmlformats.org/officeDocument/2006/relationships" id="2147483651" r:id="R351c4da0f96948d5"/>
    <p:sldLayoutId xmlns:r="http://schemas.openxmlformats.org/officeDocument/2006/relationships" id="2147483652" r:id="Rcdb66e00d967493a"/>
    <p:sldLayoutId xmlns:r="http://schemas.openxmlformats.org/officeDocument/2006/relationships" id="2147483653" r:id="R5bece35fcd924a10"/>
    <p:sldLayoutId xmlns:r="http://schemas.openxmlformats.org/officeDocument/2006/relationships" id="2147483654" r:id="R9b1b49f3fb58469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8cdd7d3e714ad6" /><Relationship Type="http://schemas.openxmlformats.org/officeDocument/2006/relationships/image" Target="/ppt/media/image.png" Id="Rc681ef2865064ce6" /><Relationship Type="http://schemas.openxmlformats.org/officeDocument/2006/relationships/notesSlide" Target="/ppt/notesSlides/notesSlide1.xml" Id="R18f353502b0445a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fc4b9e976648d8" /><Relationship Type="http://schemas.openxmlformats.org/officeDocument/2006/relationships/notesSlide" Target="/ppt/notesSlides/notesSlide2.xml" Id="Rc495adda54234f9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3d3aed9a824f57" /><Relationship Type="http://schemas.openxmlformats.org/officeDocument/2006/relationships/notesSlide" Target="/ppt/notesSlides/notesSlide3.xml" Id="R47ba380fb413414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2b1555e47743ec" /><Relationship Type="http://schemas.openxmlformats.org/officeDocument/2006/relationships/notesSlide" Target="/ppt/notesSlides/notesSlide4.xml" Id="R2541b993275c42a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c8932973ad4664" /><Relationship Type="http://schemas.openxmlformats.org/officeDocument/2006/relationships/notesSlide" Target="/ppt/notesSlides/notesSlide5.xml" Id="R1665f6fb000e4ab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012e63e52e4d10" /><Relationship Type="http://schemas.openxmlformats.org/officeDocument/2006/relationships/notesSlide" Target="/ppt/notesSlides/notesSlide6.xml" Id="Re19125ee6f834f2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95bee2eaa74818" /><Relationship Type="http://schemas.openxmlformats.org/officeDocument/2006/relationships/notesSlide" Target="/ppt/notesSlides/notesSlide7.xml" Id="R76b8cdf78d8c4e7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7b5fe2784a4d0d" /><Relationship Type="http://schemas.openxmlformats.org/officeDocument/2006/relationships/notesSlide" Target="/ppt/notesSlides/notesSlide8.xml" Id="R111e896a74da49a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75034b61e34e25" /><Relationship Type="http://schemas.openxmlformats.org/officeDocument/2006/relationships/notesSlide" Target="/ppt/notesSlides/notesSlide9.xml" Id="R3c95d6f56559481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97657737544ec7" /><Relationship Type="http://schemas.openxmlformats.org/officeDocument/2006/relationships/notesSlide" Target="/ppt/notesSlides/notesSlide10.xml" Id="Rd0d52b32895c4f0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e13a852ae24c29" /><Relationship Type="http://schemas.openxmlformats.org/officeDocument/2006/relationships/notesSlide" Target="/ppt/notesSlides/notesSlide11.xml" Id="R45867f1c0eca4c5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88f0e43a924ce9" /><Relationship Type="http://schemas.openxmlformats.org/officeDocument/2006/relationships/notesSlide" Target="/ppt/notesSlides/notesSlide12.xml" Id="R01a2703ae7df46e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ad97bcaee64e76" /><Relationship Type="http://schemas.openxmlformats.org/officeDocument/2006/relationships/notesSlide" Target="/ppt/notesSlides/notesSlide13.xml" Id="Rc2de5c1a47e94de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b27f30fcdc433b" /><Relationship Type="http://schemas.openxmlformats.org/officeDocument/2006/relationships/notesSlide" Target="/ppt/notesSlides/notesSlide14.xml" Id="Rbe021eea459c48b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8bc8cf6652422a" /><Relationship Type="http://schemas.openxmlformats.org/officeDocument/2006/relationships/notesSlide" Target="/ppt/notesSlides/notesSlide15.xml" Id="R331b8936b47b472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729a40b67c423d" /><Relationship Type="http://schemas.openxmlformats.org/officeDocument/2006/relationships/notesSlide" Target="/ppt/notesSlides/notesSlide16.xml" Id="Rc4b4507a039e49e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ebd2e76be4407b" /><Relationship Type="http://schemas.openxmlformats.org/officeDocument/2006/relationships/notesSlide" Target="/ppt/notesSlides/notesSlide17.xml" Id="Re34eca7b62c04fb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71c36d90ed489c" /><Relationship Type="http://schemas.openxmlformats.org/officeDocument/2006/relationships/notesSlide" Target="/ppt/notesSlides/notesSlide18.xml" Id="R800eecee9c614e5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36be25c87c46b1" /><Relationship Type="http://schemas.openxmlformats.org/officeDocument/2006/relationships/notesSlide" Target="/ppt/notesSlides/notesSlide19.xml" Id="Reebd58675a5d4af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91629B-0C7F-4244-8DAA-899652915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rPr>
              <a:t>CHAPTER 9   9.1 · Database structure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9E0957-6CF0-4734-B74F-B0157BD53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rPr>
              <a:t>Fields, records and tables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58367C-17B3-42F6-93C5-ED6C5683E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38576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A row stores one record.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CCAC42-A9B3-4D52-BC58-0BE9DD603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38576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A column holds one field across all records.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83FDFD-9234-469F-A980-77FF2D53F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38576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A table describes one type of entity.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E7C0D6-4387-4179-8CE0-A57B25D7C7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81ef2865064ce6"/>
          <a:stretch xmlns:a="http://schemas.openxmlformats.org/drawingml/2006/main"/>
        </p:blipFill>
        <p:spPr>
          <a:xfrm xmlns:a="http://schemas.openxmlformats.org/drawingml/2006/main">
            <a:off x="4953000" y="2107819"/>
            <a:ext cx="6629400" cy="281381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5B80F1-263E-4540-B4E9-B1BCE825F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600700"/>
            <a:ext cx="662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Hodder p.340, Figure 9.1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956B3D-CA79-44CB-853E-B4930E11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rPr>
              <a:t>CHECK  In a BOOK table, is Price a field or a record?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CE84AA-FA65-4E67-93C8-E34E1CCE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IGCSE 0478   2026–2028   /   Answers in speaker notes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C3E5CE-9A74-43CE-A909-05FF75BA0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008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1 / 19</a:t>
            </a:r>
          </a:p>
        </p:txBody>
      </p:sp>
    </p:spTree>
    <p:extLst>
      <p:ext uri="{BB962C8B-B14F-4D97-AF65-F5344CB8AC3E}">
        <p14:creationId xmlns:p14="http://schemas.microsoft.com/office/powerpoint/2010/main" val="18679884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058916-89A1-48F0-8E00-23920BC69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rPr>
              <a:t>CHAPTER 9   9.1 · Single-table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2B99FE-C398-4B09-AFC7-B919D7960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rPr>
              <a:t>The BOOK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60C12A-D681-4183-A932-F08CB4985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A record describes one item; a field describes one attribute.</a:t>
            </a:r>
          </a:p>
          <a:p xmlns:a="http://schemas.openxmlformats.org/drawingml/2006/main">
            <a: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A table stores records with the same field structure.</a:t>
            </a:r>
          </a:p>
          <a:p xmlns:a="http://schemas.openxmlformats.org/drawingml/2006/main">
            <a: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Decide what must be stored before choosing field names and types.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C2D5A3-8A62-452B-B554-92D7A700F46F}"/>
              </a:ext>
            </a:extLst>
          </p:cNvPr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09728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BookID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974F1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Title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974F1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Price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974F1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InStock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974F16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B01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Algorithms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TRUE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B02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Programming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FALSE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B03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Logic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TRUE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B04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Databases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TRUE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349AE9-AFF3-485E-9E31-067FD5636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rPr>
              <a:t>CHECK  In BOOK, is Price a record or a field?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23E8C2-4907-4F45-BEE8-788D91F6F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IGCSE 0478   2026–2028   /   Answers in speaker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612DC3-9428-4875-930E-8A0EDDA0F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008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2 / 19</a:t>
            </a:r>
          </a:p>
        </p:txBody>
      </p:sp>
    </p:spTree>
    <p:extLst>
      <p:ext uri="{BB962C8B-B14F-4D97-AF65-F5344CB8AC3E}">
        <p14:creationId xmlns:p14="http://schemas.microsoft.com/office/powerpoint/2010/main" val="2141768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26B322-2E06-4349-842D-B3A61E28B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rPr>
              <a:t>CHAPTER 9   9.2 · Types and validation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46DF8C-C56C-49E9-9113-B4CA52869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rPr>
              <a:t>Choosing database field types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B0434A-BCFB-4511-938D-F2FCD70BA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Store a telephone number as text to preserve leading zeros.</a:t>
            </a:r>
          </a:p>
          <a:p xmlns:a="http://schemas.openxmlformats.org/drawingml/2006/main">
            <a: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Use a date/time type for dates; a Boolean for a two-state value.</a:t>
            </a:r>
          </a:p>
          <a:p xmlns:a="http://schemas.openxmlformats.org/drawingml/2006/main">
            <a: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Validation checks whether entered data meets rules.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C2F4A8-6B95-4391-8558-0B7E6B7E54A8}"/>
              </a:ext>
            </a:extLst>
          </p:cNvPr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09728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3962400"/>
                <a:gridCol w="3962400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Field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974F1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Type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974F1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Reason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974F16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BookID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Text/alphanumeric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Contains letters and digits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Price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Real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May include a fractional amount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InStock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Boolean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TRUE or FALSE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PublicationDate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Date/time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Represents a calendar date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C63A30-4334-4C98-9ABD-229A40D50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rPr>
              <a:t>CHECK  Which checks suit Price?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D4C61A-E9D8-48D4-BABA-8601D24D8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IGCSE 0478   2026–2028   /   Answers in speaker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693BE1-2A2B-4651-9702-C355082B9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008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3 / 19</a:t>
            </a:r>
          </a:p>
        </p:txBody>
      </p:sp>
    </p:spTree>
    <p:extLst>
      <p:ext uri="{BB962C8B-B14F-4D97-AF65-F5344CB8AC3E}">
        <p14:creationId xmlns:p14="http://schemas.microsoft.com/office/powerpoint/2010/main" val="4866644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37351D-56DA-4536-82DD-40997765E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rPr>
              <a:t>CHAPTER 9   9.2 · Data types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DDDFF0-D876-4B4F-A13E-7D2B84FF7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rPr>
              <a:t>Six database data types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DB8751-ABA5-4412-B2B1-78BD6C58C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Choose the type from the meaning of the value.</a:t>
            </a:r>
          </a:p>
          <a:p xmlns:a="http://schemas.openxmlformats.org/drawingml/2006/main">
            <a: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Numbers used as identifiers may belong in text fields.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42A85A-B87E-4BC6-B82B-FD3DF297D49C}"/>
              </a:ext>
            </a:extLst>
          </p:cNvPr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0972800" cy="3086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3962400"/>
                <a:gridCol w="3962400"/>
              </a:tblGrid>
              <a:tr h="44087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Type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974F1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Example field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974F1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Example value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974F16"/>
                    </a:solidFill>
                  </a:tcPr>
                </a:tc>
              </a:tr>
              <a:tr h="44087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Text/alphanumeric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BookID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B01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087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Character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CategoryCode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</a:tr>
              <a:tr h="44087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Boolean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InStock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TRUE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087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Integer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Copies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</a:tr>
              <a:tr h="44087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Real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Price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12.50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087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Date/time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Published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2025-03-01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506C37-4FD7-4F6B-8C3F-BB1444D3A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rPr>
              <a:t>CHECK  Why can a telephone number be text?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69DDDE-1CBF-4A43-A072-AAAB50A70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IGCSE 0478   2026–2028   /   Answers in speaker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F51063-C408-4619-A59B-CF4CCA712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008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4 / 19</a:t>
            </a:r>
          </a:p>
        </p:txBody>
      </p:sp>
    </p:spTree>
    <p:extLst>
      <p:ext uri="{BB962C8B-B14F-4D97-AF65-F5344CB8AC3E}">
        <p14:creationId xmlns:p14="http://schemas.microsoft.com/office/powerpoint/2010/main" val="4261071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74A725-3C00-4A44-A870-40D857AA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rPr>
              <a:t>CHAPTER 9   9.3 · Primary keys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AA0623-8732-4EDB-85A6-593EFF9D8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rPr>
              <a:t>Primary keys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090E65-8E8E-4954-AF45-2B24BFB1D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826D5A-CD86-4F49-84A5-CF8526146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619250"/>
            <a:ext cx="9810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Every record needs a unique key value.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5D5988-005B-4E02-9276-DEA090F1F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6075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E95EF4-B6AF-4475-A977-99EDDD910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819400"/>
            <a:ext cx="9810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Choose a stable identifier rather than a name that may repeat.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955604-FE56-4474-86D5-D136E7B85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7FBCD6-AEAD-48A9-9FA7-D79B2AA22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019550"/>
            <a:ext cx="9810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A key must not be missing.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4F7C6C-AD6E-4C23-9D61-F0C291F86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rPr>
              <a:t>CHECK  Why is Title a poor primary key?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DF235E-AA88-47A2-9ADE-BAD568610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IGCSE 0478   2026–2028   /   Answers in speaker notes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88ADD3-E947-400E-B213-8C661364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008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5 / 19</a:t>
            </a:r>
          </a:p>
        </p:txBody>
      </p:sp>
    </p:spTree>
    <p:extLst>
      <p:ext uri="{BB962C8B-B14F-4D97-AF65-F5344CB8AC3E}">
        <p14:creationId xmlns:p14="http://schemas.microsoft.com/office/powerpoint/2010/main" val="4955843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9DAB34-7596-4890-AEE3-8A4F52719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rPr>
              <a:t>CHAPTER 9   9.3 · Key choice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40C363-BBC9-440E-8F3C-06317138D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rPr>
              <a:t>Primary-key suitability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3A0893-9F27-486E-BED9-125806EA8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Every record needs a unique, non-empty key.</a:t>
            </a:r>
          </a:p>
          <a:p xmlns:a="http://schemas.openxmlformats.org/drawingml/2006/main">
            <a: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Names and prices can repeat.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605AEF-872D-4C2E-AD9B-DECD595C71E2}"/>
              </a:ext>
            </a:extLst>
          </p:cNvPr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09728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3962400"/>
                <a:gridCol w="3962400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Candidate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974F1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Unique?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974F1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Suitable?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974F16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BookID: B01, B02, B03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Yes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Yes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Title: Logic, Logic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Price: 12, 12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Blank identifier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Missing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17FEB9-2239-4523-83E4-B96976FF2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rPr>
              <a:t>CHECK  Can a changing stock quantity be a suitable key?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1D12BF-A1C1-4583-9240-0204713CF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IGCSE 0478   2026–2028   /   Answers in speaker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4DF137-DDC4-4CD8-9AEC-579C0839D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008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6 / 19</a:t>
            </a:r>
          </a:p>
        </p:txBody>
      </p:sp>
    </p:spTree>
    <p:extLst>
      <p:ext uri="{BB962C8B-B14F-4D97-AF65-F5344CB8AC3E}">
        <p14:creationId xmlns:p14="http://schemas.microsoft.com/office/powerpoint/2010/main" val="19944596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94D98A-6BFD-45F0-97E4-82A68C9E2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rPr>
              <a:t>CHAPTER 9   9.1 · Validation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798CB3-A81D-4F3B-836C-074C4E147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rPr>
              <a:t>Validation in a database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852918-E661-4C56-A6C9-339404B79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A field type limits the kind of value stored.</a:t>
            </a:r>
          </a:p>
          <a:p xmlns:a="http://schemas.openxmlformats.org/drawingml/2006/main">
            <a: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Additional rules check whether the value is acceptable.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86D359-7963-4608-B2CC-4476DB0606E9}"/>
              </a:ext>
            </a:extLst>
          </p:cNvPr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09728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3962400"/>
                <a:gridCol w="3962400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Field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974F1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Validation rule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974F1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Reason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974F16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BookID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Presence and format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Required identifier such as B01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Price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Real and &gt;= 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Non-negative amount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Copies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Integer and &gt;= 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Whole number of copies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InStock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Boolean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Only two states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853E8C-8930-4F5B-BCE0-9080BF7B8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rPr>
              <a:t>CHECK  Does Price &gt;= 0 prove the price matches the source?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FCF8CE-4150-44AF-8815-70CFA6264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IGCSE 0478   2026–2028   /   Answers in speaker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4892AC-83F2-4D14-B531-9AB208D28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008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7 / 19</a:t>
            </a:r>
          </a:p>
        </p:txBody>
      </p:sp>
    </p:spTree>
    <p:extLst>
      <p:ext uri="{BB962C8B-B14F-4D97-AF65-F5344CB8AC3E}">
        <p14:creationId xmlns:p14="http://schemas.microsoft.com/office/powerpoint/2010/main" val="4124200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3465FB-497D-4C86-91D6-B553AF30D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rPr>
              <a:t>CHAPTER 9   9.4 · Select and filter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99D559-ABC7-4E26-B245-DCA5230D3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rPr>
              <a:t>SELECT, FROM and WHERE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AB1258-B151-46CB-84A8-FD26A32A5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35718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FROM names the single source table.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DCDBFD-3DD8-4FF3-934A-7F2B5CB96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35718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WHERE tests each record against a condition.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DD1D8D-1B74-45B4-BDE3-6F2B19626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35718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Text values need quotation marks.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3AAAFA-856C-416A-8598-8E5CAD631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581150"/>
            <a:ext cx="7115175" cy="414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SELECT Title, Price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FROM BOOK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WHERE InStock = TRUE;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17C194-A6E5-489E-9081-49A35CF3C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rPr>
              <a:t>CHECK  What does this query return?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55059E-AA25-47DD-8C93-1F50496A6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IGCSE 0478   2026–2028   /   Answers in speaker notes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1478F3-7966-4010-B7CA-F73012841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008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8 / 19</a:t>
            </a:r>
          </a:p>
        </p:txBody>
      </p:sp>
    </p:spTree>
    <p:extLst>
      <p:ext uri="{BB962C8B-B14F-4D97-AF65-F5344CB8AC3E}">
        <p14:creationId xmlns:p14="http://schemas.microsoft.com/office/powerpoint/2010/main" val="16764618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86A81C-1340-4375-8064-0F48AF2F4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rPr>
              <a:t>CHAPTER 9   9.4 · Query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57AF6C-D3A3-460C-B5F6-7ED39A18C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rPr>
              <a:t>SELECT and WHERE: the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B3C15D-BE20-4C49-94F4-8B088C0B0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WHERE keeps B01, B03 and B04 because InStock is TRUE.</a:t>
            </a:r>
          </a:p>
          <a:p xmlns:a="http://schemas.openxmlformats.org/drawingml/2006/main">
            <a: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SELECT displays only Title and Price.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E418DD-AE08-4F4E-8FED-44AA3DD2DE19}"/>
              </a:ext>
            </a:extLst>
          </p:cNvPr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0972800" cy="1905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669277"/>
                <a:gridCol w="6303523"/>
              </a:tblGrid>
              <a:tr h="476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Title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974F1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Price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974F16"/>
                    </a:solidFill>
                  </a:tcPr>
                </a:tc>
              </a:tr>
              <a:tr h="476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Algorithms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Logic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</a:tr>
              <a:tr h="476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Databases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7CAAE3-AEAF-4F15-BED3-276F3360C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rPr>
              <a:t>CHECK  Why is Programming absent?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D46209-E63E-4EBF-AC8D-27A081CE1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IGCSE 0478   2026–2028   /   Answers in speaker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8C1902-20B7-402B-B2C2-7B3E135EF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008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9 / 19</a:t>
            </a:r>
          </a:p>
        </p:txBody>
      </p:sp>
    </p:spTree>
    <p:extLst>
      <p:ext uri="{BB962C8B-B14F-4D97-AF65-F5344CB8AC3E}">
        <p14:creationId xmlns:p14="http://schemas.microsoft.com/office/powerpoint/2010/main" val="164135378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5F213F-FB2B-4421-BCF5-EB42828F2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rPr>
              <a:t>CHAPTER 9   9.4 · Filtering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9B22A9-8AA6-4624-A784-366B9D8B2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rPr>
              <a:t>A condition applies to each record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87E980-44A5-467B-80C2-3C2281E39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For Price &gt;= 12, compare each record’s Price with 12.</a:t>
            </a:r>
          </a:p>
          <a:p xmlns:a="http://schemas.openxmlformats.org/drawingml/2006/main">
            <a: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A true comparison includes that record.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C5178F-624C-4101-B9D2-C7BBF32433CC}"/>
              </a:ext>
            </a:extLst>
          </p:cNvPr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09728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3962400"/>
                <a:gridCol w="3962400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Title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974F1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Price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974F1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Price &gt;= 12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974F16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Algorithms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TRUE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Programming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TRUE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Logic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FALSE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Databases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TRUE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E91A35-EF58-406C-814B-FAB23767A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rPr>
              <a:t>CHECK  Does the query include a book priced exactly 12?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82E437-F0E5-46AA-AAD8-793A0013C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IGCSE 0478   2026–2028   /   Answers in speaker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95B251-F043-4872-AE9C-C7A896D44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008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10 / 19</a:t>
            </a:r>
          </a:p>
        </p:txBody>
      </p:sp>
    </p:spTree>
    <p:extLst>
      <p:ext uri="{BB962C8B-B14F-4D97-AF65-F5344CB8AC3E}">
        <p14:creationId xmlns:p14="http://schemas.microsoft.com/office/powerpoint/2010/main" val="131318927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37F669-7B73-4D69-886D-64243A72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rPr>
              <a:t>CHAPTER 9   9.4 · Sort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FD4436-9567-4759-9EC3-4CBC3634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rPr>
              <a:t>Filtering and sorting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88CF37-5F4E-4678-B4BA-F3DBB5FF1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35718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ORDER BY specifies the sorting field and direction.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EE6ABE-7B57-4402-972B-827938B42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35718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The field used for sorting need not be displayed.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BE06F4-6DC6-42F7-93DD-820636A1E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35718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Cambridge uses ASCENDING / DESCENDING; SQLite uses ASC / DESC.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49F8A2-F0E0-4751-A6E0-0F0365B84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581150"/>
            <a:ext cx="7115175" cy="414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SELECT Title, Price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FROM BOOK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WHERE InStock = TRUE AND Price &gt;= 10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ORDER BY Price DESCENDING;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99F910-12F5-49C3-990C-2521AD005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rPr>
              <a:t>CHECK  Which title appears first?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8FCA10-DBA7-495E-934C-49D34755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IGCSE 0478   2026–2028   /   Answers in speaker notes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E23BF4-A096-4D53-8645-E541FF694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008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11 / 19</a:t>
            </a:r>
          </a:p>
        </p:txBody>
      </p:sp>
    </p:spTree>
    <p:extLst>
      <p:ext uri="{BB962C8B-B14F-4D97-AF65-F5344CB8AC3E}">
        <p14:creationId xmlns:p14="http://schemas.microsoft.com/office/powerpoint/2010/main" val="185267571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EC8B7C-0E77-4C11-9D64-B5B00F53D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rPr>
              <a:t>CHAPTER 9   9.4 · Sorted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15CBC9-ACC1-4B07-A08B-97AF080FE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rPr>
              <a:t>ORDER BY: the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EFA4F0-05E3-4B90-B08A-42BDB0057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First retain in-stock books priced at least 10.</a:t>
            </a:r>
          </a:p>
          <a:p xmlns:a="http://schemas.openxmlformats.org/drawingml/2006/main">
            <a: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Then order Price from high to low.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065D7A-7FED-4247-8FBD-E83EA084E281}"/>
              </a:ext>
            </a:extLst>
          </p:cNvPr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0972800" cy="1905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669277"/>
                <a:gridCol w="6303523"/>
              </a:tblGrid>
              <a:tr h="635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Title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974F1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Price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974F16"/>
                    </a:solidFill>
                  </a:tcPr>
                </a:tc>
              </a:tr>
              <a:tr h="635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Databases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Algorithms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48F96A-163A-42A3-8A38-09C39A8A0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rPr>
              <a:t>CHECK  What changes if the direction is ASCENDING?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32FDE5-1B16-442E-BDFF-0BEAC164B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IGCSE 0478   2026–2028   /   Answers in speaker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4A8C9A-62F2-41BD-95D9-2AEA0A2D6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008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12 / 19</a:t>
            </a:r>
          </a:p>
        </p:txBody>
      </p:sp>
    </p:spTree>
    <p:extLst>
      <p:ext uri="{BB962C8B-B14F-4D97-AF65-F5344CB8AC3E}">
        <p14:creationId xmlns:p14="http://schemas.microsoft.com/office/powerpoint/2010/main" val="188044790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67C951-B353-4EF6-85FB-ACE9E5551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rPr>
              <a:t>CHAPTER 9   9.4 · Compound conditions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62BF48-6B8A-4537-A32E-B86E9ABB7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rPr>
              <a:t>AND, OR and parentheses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2E7F62-839A-4BD7-91BB-C360BF73E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35718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AND requires both conditions. OR requires at least one.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F9AE54-4D1E-4B4D-AB3D-873672572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35718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Parentheses make the intended grouping clear.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A59C6E-00DC-4C85-BB36-E1F414715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35718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Read the Boolean condition for each record before selecting 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9F8E90-8AD9-499D-9B1B-33C6BBBA8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581150"/>
            <a:ext cx="7115175" cy="414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SELECT BookID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FROM BOOK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WHERE InStock = TRUE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AND (Price &lt; 10 OR Price &gt; 14);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4563BE-D7EF-4C0A-ABF6-FB09E984F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rPr>
              <a:t>CHECK  Which BookIDs match?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F89760-774B-4B11-93E1-404EF9AE6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IGCSE 0478   2026–2028   /   Answers in speaker notes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218295-CC72-4A14-9A4D-D03B127DA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008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13 / 19</a:t>
            </a:r>
          </a:p>
        </p:txBody>
      </p:sp>
    </p:spTree>
    <p:extLst>
      <p:ext uri="{BB962C8B-B14F-4D97-AF65-F5344CB8AC3E}">
        <p14:creationId xmlns:p14="http://schemas.microsoft.com/office/powerpoint/2010/main" val="204053908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B7AE29-79B5-428A-8653-8D91BCC39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rPr>
              <a:t>CHAPTER 9   9.4 · Boolean filter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3793FC-CA79-43C9-8E98-38454F742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rPr>
              <a:t>A compound-condition trace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1008E4-BAB9-43D6-B851-46DE3D40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Condition: InStock AND (Price &lt; 10 OR Price &gt; 14).</a:t>
            </a:r>
          </a:p>
          <a:p xmlns:a="http://schemas.openxmlformats.org/drawingml/2006/main">
            <a: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The parentheses keep the price alternatives together.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EA5498-000E-4787-95D2-D31E614C21CB}"/>
              </a:ext>
            </a:extLst>
          </p:cNvPr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09728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BookID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974F1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 stock?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974F1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Price test?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974F1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Include?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974F16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B01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TRUE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FALSE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B02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FALSE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TRUE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B03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TRUE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TRUE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Yes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B04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TRUE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TRUE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Yes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70A66F-19EC-4523-B515-681164164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rPr>
              <a:t>CHECK  Which BookIDs satisfy the entire condition?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199751-5BD1-4233-8E06-51B87E827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IGCSE 0478   2026–2028   /   Answers in speaker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6F3A53-14B9-49A6-8481-B86A86ED6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008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14 / 19</a:t>
            </a:r>
          </a:p>
        </p:txBody>
      </p:sp>
    </p:spTree>
    <p:extLst>
      <p:ext uri="{BB962C8B-B14F-4D97-AF65-F5344CB8AC3E}">
        <p14:creationId xmlns:p14="http://schemas.microsoft.com/office/powerpoint/2010/main" val="213901412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B92E93-7C8E-444C-A857-D74549E96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rPr>
              <a:t>CHAPTER 9   9.4 · Aggregates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B236B0-4A3D-435F-BB41-1BBE06268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rPr>
              <a:t>COUNT and SUM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A5D59E-EEFE-452B-AF14-B99C8579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35718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COUNT(*) counts matching records.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A1546F-960C-45FC-AC6B-5D18D33FE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35718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SUM(Price) adds the numeric Price values of matching records.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1A0FE6-DA5B-4FE8-9916-649C94181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35718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An aggregate query produces a summary result.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6CAFD6-1F6C-4DAB-9E39-9819A0B3E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581150"/>
            <a:ext cx="7115175" cy="414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SELECT COUNT(*) FROM BOOK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WHERE InStock = TRUE;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SELECT SUM(Price) FROM BOOK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WHERE InStock = TRUE;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0B43E2-A185-4CF7-8D2E-618DF088F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rPr>
              <a:t>CHECK  What are the two results for the BOOK data?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8BD135-A707-4D9C-81C8-E140FFF2D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IGCSE 0478   2026–2028   /   Answers in speaker notes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17C5BD-18BD-4908-8331-58C77770F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008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15 / 19</a:t>
            </a:r>
          </a:p>
        </p:txBody>
      </p:sp>
    </p:spTree>
    <p:extLst>
      <p:ext uri="{BB962C8B-B14F-4D97-AF65-F5344CB8AC3E}">
        <p14:creationId xmlns:p14="http://schemas.microsoft.com/office/powerpoint/2010/main" val="9180493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8434D3-A2FB-422C-866A-B9688CE80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rPr>
              <a:t>CHAPTER 9   9.4 · Aggregate trace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02F62B-E134-4F90-A07F-A7B19D3A0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rPr>
              <a:t>Aggregate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D328F1-8890-4206-88CB-EB80B8842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The matching in-stock prices are 12, 9 and 15.</a:t>
            </a:r>
          </a:p>
          <a:p xmlns:a="http://schemas.openxmlformats.org/drawingml/2006/main">
            <a: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COUNT(*) counts rows. SUM(Price) adds their prices.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487AA1-4AAD-4183-990D-588CDFC85FC2}"/>
              </a:ext>
            </a:extLst>
          </p:cNvPr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0972800" cy="1905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3962400"/>
                <a:gridCol w="3962400"/>
              </a:tblGrid>
              <a:tr h="635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Calculation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974F1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Working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974F1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Result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974F16"/>
                    </a:solidFill>
                  </a:tcPr>
                </a:tc>
              </a:tr>
              <a:tr h="635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COUNT(*)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Three matching records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SUM(Price)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 + 9 + 15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476A95-959C-48AB-8F15-22180FD46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rPr>
              <a:t>CHECK  Would COUNT(*) change if Algorithms cost 14?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05FBD0-F907-4B9C-9001-609F2C0B0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IGCSE 0478   2026–2028   /   Answers in speaker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2CB6EF-2030-4DC1-A098-7EE781018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008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16 / 19</a:t>
            </a:r>
          </a:p>
        </p:txBody>
      </p:sp>
    </p:spTree>
    <p:extLst>
      <p:ext uri="{BB962C8B-B14F-4D97-AF65-F5344CB8AC3E}">
        <p14:creationId xmlns:p14="http://schemas.microsoft.com/office/powerpoint/2010/main" val="116650867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C669EE-C5C9-4A5A-9536-D4E8BDCC0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rPr>
              <a:t>CHAPTER 9   9.4 · Independent practice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2DCE84-42E6-49D7-A7CE-F6A6CAD05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rPr>
              <a:t>Independent SQL task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2E65E7-3CAB-4314-B345-A21558474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1A2B70-6725-44D0-AAE2-6BB7F44CC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619250"/>
            <a:ext cx="9810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Request: show titles of in-stock books below 16, cheapest first.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220670-BF48-4FF0-A34E-E959BEB5B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6075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20243F-B233-4F4E-91A5-973882012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819400"/>
            <a:ext cx="9810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Identify displayed fields, source table, filter and sort separately.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1BA3F9-A787-46DF-962E-70AF0D49D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EE4DEC-7871-42F3-9432-77554DAE6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019550"/>
            <a:ext cx="9810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Predict the output before running the query.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8AF9E6-C2C5-4A71-8FB6-28139071D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rPr>
              <a:t>CHECK  Write the query and ordered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58541F-D621-4F93-8DDD-9E7B66D37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IGCSE 0478   2026–2028   /   Answers in speaker notes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70D388-8280-4292-BBB6-B18C37C7A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008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17 / 19</a:t>
            </a:r>
          </a:p>
        </p:txBody>
      </p:sp>
    </p:spTree>
    <p:extLst>
      <p:ext uri="{BB962C8B-B14F-4D97-AF65-F5344CB8AC3E}">
        <p14:creationId xmlns:p14="http://schemas.microsoft.com/office/powerpoint/2010/main" val="160673618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EE5178-0631-4D95-AE55-6B040DC8B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rPr>
              <a:t>CHAPTER 9   9.4 · Model answer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F4F40B-0ED7-4FC5-827B-3C665AC7B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rPr>
              <a:t>SQL task: model answer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F0E196-599B-4A0E-8107-353344600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Only in-stock books below 16 qualify.</a:t>
            </a:r>
          </a:p>
          <a:p xmlns:a="http://schemas.openxmlformats.org/drawingml/2006/main">
            <a: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Show the Title field and sort by Price from low to high.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818FCA-D723-499C-960F-230D61970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6400800" cy="2809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SELECT Title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FROM BOOK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WHERE InStock = TRUE AND Price &lt; 16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ORDER BY Price ASCENDING;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9CD039-4B67-4F71-947A-4E5C7967683D}"/>
              </a:ext>
            </a:extLst>
          </p:cNvPr>
          <p:cNvGraphicFramePr/>
          <p:nvPr/>
        </p:nvGraphicFramePr>
        <p:xfrm>
          <a:off xmlns:a="http://schemas.openxmlformats.org/drawingml/2006/main" x="7429500" y="2838450"/>
          <a:ext xmlns:a="http://schemas.openxmlformats.org/drawingml/2006/main" cx="4152900" cy="238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52900"/>
              </a:tblGrid>
              <a:tr h="5953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Title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974F16"/>
                    </a:solidFill>
                  </a:tcPr>
                </a:tc>
              </a:tr>
              <a:tr h="5953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Logic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Algorithms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</a:tr>
              <a:tr h="5953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Databases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1761B1-AF4F-4FF6-9352-D8B087AF7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rPr>
              <a:t>CHECK  List the output titles in their final order.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0C1587-E4AA-4267-94C5-A37E483A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IGCSE 0478   2026–2028   /   Answers in speaker notes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BEBAA3-68F9-4207-AE56-BB02B7BA7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008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18 / 19</a:t>
            </a:r>
          </a:p>
        </p:txBody>
      </p:sp>
    </p:spTree>
    <p:extLst>
      <p:ext uri="{BB962C8B-B14F-4D97-AF65-F5344CB8AC3E}">
        <p14:creationId xmlns:p14="http://schemas.microsoft.com/office/powerpoint/2010/main" val="13917981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F55CC2-3B9F-439E-A97B-D800C24CB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rPr>
              <a:t>CHAPTER 9   9.4 ·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4A5794-B88A-4C12-BD8D-C7172277C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rPr>
              <a:t>Common SQL 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F03339-D1F7-4D86-A1E1-D520BC16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Check displayed fields, source table, filter and order separately.</a:t>
            </a:r>
          </a:p>
          <a:p xmlns:a="http://schemas.openxmlformats.org/drawingml/2006/main">
            <a: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Cambridge exam syntax uses ASCENDING and DESCENDING.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CD7B54-FC21-4CF6-B82E-32EDE0463745}"/>
              </a:ext>
            </a:extLst>
          </p:cNvPr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09728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669277"/>
                <a:gridCol w="6303523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Mistake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974F1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Correction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974F16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SUM(*) to count records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COUNT(*)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Unquoted text value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Title = "Logic"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Wrong sort direction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Match cheapest/highest wording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Missing parentheses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Group OR alternatives explicitly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88C959-D9D1-45AF-AA7D-F7319DEF2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974F16"/>
                </a:solidFill>
                <a:latin typeface="Helvetica Neue"/>
                <a:ea typeface="Helvetica Neue"/>
                <a:cs typeface="Helvetica Neue"/>
              </a:rPr>
              <a:t>CHECK  Which clause specifies the table name?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BBB5BC-64A3-41C7-AFFC-10CE44120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IGCSE 0478   2026–2028   /   Answers in speaker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8C0001-C614-41DE-80C4-0A1B9F22D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008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19 / 19</a:t>
            </a:r>
          </a:p>
        </p:txBody>
      </p:sp>
    </p:spTree>
    <p:extLst>
      <p:ext uri="{BB962C8B-B14F-4D97-AF65-F5344CB8AC3E}">
        <p14:creationId xmlns:p14="http://schemas.microsoft.com/office/powerpoint/2010/main" val="2197042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2026-10-13T08:07:11.0080000Z</dcterms:created>
  <dcterms:modified xsi:type="dcterms:W3CDTF">2026-10-13T08:07:11.0080000Z</dcterms:modified>
</coreProperties>
</file>