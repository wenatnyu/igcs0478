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49740732234827" /><Relationship Type="http://schemas.openxmlformats.org/officeDocument/2006/relationships/extended-properties" Target="/docProps/app.xml" Id="R9c997522cfde464e" /><Relationship Type="http://schemas.openxmlformats.org/officeDocument/2006/relationships/officeDocument" Target="/ppt/presentation.xml" Id="Rfad1f43f5a2b4b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ea283c5d894ce5"/>
  </p:sldMasterIdLst>
  <p:notesMasterIdLst>
    <p:notesMasterId xmlns:r="http://schemas.openxmlformats.org/officeDocument/2006/relationships" r:id="Re760eb915b154595"/>
  </p:notesMasterIdLst>
  <p:sldIdLst>
    <p:sldId xmlns:r="http://schemas.openxmlformats.org/officeDocument/2006/relationships" id="256" r:id="R141b5a6a151241b1"/>
    <p:sldId xmlns:r="http://schemas.openxmlformats.org/officeDocument/2006/relationships" id="257" r:id="R6b68d61061ed429f"/>
    <p:sldId xmlns:r="http://schemas.openxmlformats.org/officeDocument/2006/relationships" id="258" r:id="Rf43d85bf310c4653"/>
    <p:sldId xmlns:r="http://schemas.openxmlformats.org/officeDocument/2006/relationships" id="259" r:id="Rb5c9c5c5652442d0"/>
    <p:sldId xmlns:r="http://schemas.openxmlformats.org/officeDocument/2006/relationships" id="260" r:id="R1350da6da57a4caf"/>
    <p:sldId xmlns:r="http://schemas.openxmlformats.org/officeDocument/2006/relationships" id="261" r:id="Rf4480d5e11da4b06"/>
    <p:sldId xmlns:r="http://schemas.openxmlformats.org/officeDocument/2006/relationships" id="262" r:id="Reb5eb12fe7a744a3"/>
    <p:sldId xmlns:r="http://schemas.openxmlformats.org/officeDocument/2006/relationships" id="263" r:id="Rf05ddcd6047c4412"/>
    <p:sldId xmlns:r="http://schemas.openxmlformats.org/officeDocument/2006/relationships" id="264" r:id="Rbea683ca916e40e9"/>
    <p:sldId xmlns:r="http://schemas.openxmlformats.org/officeDocument/2006/relationships" id="265" r:id="R422cb3c555cf4bfc"/>
    <p:sldId xmlns:r="http://schemas.openxmlformats.org/officeDocument/2006/relationships" id="266" r:id="Ra543833db17a4ccc"/>
    <p:sldId xmlns:r="http://schemas.openxmlformats.org/officeDocument/2006/relationships" id="267" r:id="R7c065d34ae1d47ff"/>
    <p:sldId xmlns:r="http://schemas.openxmlformats.org/officeDocument/2006/relationships" id="268" r:id="Ra3a54002223d45b4"/>
    <p:sldId xmlns:r="http://schemas.openxmlformats.org/officeDocument/2006/relationships" id="269" r:id="Re528f3cfc5d445a1"/>
    <p:sldId xmlns:r="http://schemas.openxmlformats.org/officeDocument/2006/relationships" id="270" r:id="Ra853675d4cd24518"/>
    <p:sldId xmlns:r="http://schemas.openxmlformats.org/officeDocument/2006/relationships" id="271" r:id="Rf757aa8cfd2e4a1b"/>
    <p:sldId xmlns:r="http://schemas.openxmlformats.org/officeDocument/2006/relationships" id="272" r:id="R1f10debe14484b16"/>
    <p:sldId xmlns:r="http://schemas.openxmlformats.org/officeDocument/2006/relationships" id="273" r:id="R16704a66dbe94e3a"/>
    <p:sldId xmlns:r="http://schemas.openxmlformats.org/officeDocument/2006/relationships" id="274" r:id="R34c28f53dbb342b1"/>
    <p:sldId xmlns:r="http://schemas.openxmlformats.org/officeDocument/2006/relationships" id="275" r:id="R9109a7bbb8cb4cca"/>
    <p:sldId xmlns:r="http://schemas.openxmlformats.org/officeDocument/2006/relationships" id="276" r:id="R1e634e17b7d047a1"/>
    <p:sldId xmlns:r="http://schemas.openxmlformats.org/officeDocument/2006/relationships" id="277" r:id="R66e13f7d01ce4406"/>
    <p:sldId xmlns:r="http://schemas.openxmlformats.org/officeDocument/2006/relationships" id="278" r:id="R614556bdc6e443ef"/>
    <p:sldId xmlns:r="http://schemas.openxmlformats.org/officeDocument/2006/relationships" id="279" r:id="Rb4cf4ac271f241e3"/>
    <p:sldId xmlns:r="http://schemas.openxmlformats.org/officeDocument/2006/relationships" id="280" r:id="Rcd3e5c89af7f4f8b"/>
    <p:sldId xmlns:r="http://schemas.openxmlformats.org/officeDocument/2006/relationships" id="281" r:id="R65527e09a66d49cf"/>
    <p:sldId xmlns:r="http://schemas.openxmlformats.org/officeDocument/2006/relationships" id="282" r:id="R7417c3befd5a4cc2"/>
    <p:sldId xmlns:r="http://schemas.openxmlformats.org/officeDocument/2006/relationships" id="283" r:id="R39bf14b601b04515"/>
    <p:sldId xmlns:r="http://schemas.openxmlformats.org/officeDocument/2006/relationships" id="284" r:id="Rebcf871645df45ab"/>
    <p:sldId xmlns:r="http://schemas.openxmlformats.org/officeDocument/2006/relationships" id="285" r:id="R42a04df71af844ca"/>
    <p:sldId xmlns:r="http://schemas.openxmlformats.org/officeDocument/2006/relationships" id="286" r:id="R5c328c7a8e5b44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3e8a494c754158" /><Relationship Type="http://schemas.openxmlformats.org/officeDocument/2006/relationships/slideMaster" Target="/ppt/slideMasters/slideMaster1.xml" Id="Ra4ea283c5d894ce5" /><Relationship Type="http://schemas.openxmlformats.org/officeDocument/2006/relationships/notesMaster" Target="/ppt/notesMasters/notesMaster1.xml" Id="Re760eb915b154595" /><Relationship Type="http://schemas.openxmlformats.org/officeDocument/2006/relationships/presProps" Target="/ppt/presProps.xml" Id="Rf01e7fadf46244cc" /><Relationship Type="http://schemas.openxmlformats.org/officeDocument/2006/relationships/tableStyles" Target="/ppt/tableStyles.xml" Id="R249156b9e3e443e3" /><Relationship Type="http://schemas.openxmlformats.org/officeDocument/2006/relationships/slide" Target="/ppt/slides/slide1.xml" Id="R141b5a6a151241b1" /><Relationship Type="http://schemas.openxmlformats.org/officeDocument/2006/relationships/slide" Target="/ppt/slides/slide2.xml" Id="R6b68d61061ed429f" /><Relationship Type="http://schemas.openxmlformats.org/officeDocument/2006/relationships/slide" Target="/ppt/slides/slide3.xml" Id="Rf43d85bf310c4653" /><Relationship Type="http://schemas.openxmlformats.org/officeDocument/2006/relationships/slide" Target="/ppt/slides/slide4.xml" Id="Rb5c9c5c5652442d0" /><Relationship Type="http://schemas.openxmlformats.org/officeDocument/2006/relationships/slide" Target="/ppt/slides/slide5.xml" Id="R1350da6da57a4caf" /><Relationship Type="http://schemas.openxmlformats.org/officeDocument/2006/relationships/slide" Target="/ppt/slides/slide6.xml" Id="Rf4480d5e11da4b06" /><Relationship Type="http://schemas.openxmlformats.org/officeDocument/2006/relationships/slide" Target="/ppt/slides/slide7.xml" Id="Reb5eb12fe7a744a3" /><Relationship Type="http://schemas.openxmlformats.org/officeDocument/2006/relationships/slide" Target="/ppt/slides/slide8.xml" Id="Rf05ddcd6047c4412" /><Relationship Type="http://schemas.openxmlformats.org/officeDocument/2006/relationships/slide" Target="/ppt/slides/slide9.xml" Id="Rbea683ca916e40e9" /><Relationship Type="http://schemas.openxmlformats.org/officeDocument/2006/relationships/slide" Target="/ppt/slides/slide10.xml" Id="R422cb3c555cf4bfc" /><Relationship Type="http://schemas.openxmlformats.org/officeDocument/2006/relationships/slide" Target="/ppt/slides/slide11.xml" Id="Ra543833db17a4ccc" /><Relationship Type="http://schemas.openxmlformats.org/officeDocument/2006/relationships/slide" Target="/ppt/slides/slide12.xml" Id="R7c065d34ae1d47ff" /><Relationship Type="http://schemas.openxmlformats.org/officeDocument/2006/relationships/slide" Target="/ppt/slides/slide13.xml" Id="Ra3a54002223d45b4" /><Relationship Type="http://schemas.openxmlformats.org/officeDocument/2006/relationships/slide" Target="/ppt/slides/slide14.xml" Id="Re528f3cfc5d445a1" /><Relationship Type="http://schemas.openxmlformats.org/officeDocument/2006/relationships/slide" Target="/ppt/slides/slide15.xml" Id="Ra853675d4cd24518" /><Relationship Type="http://schemas.openxmlformats.org/officeDocument/2006/relationships/slide" Target="/ppt/slides/slide16.xml" Id="Rf757aa8cfd2e4a1b" /><Relationship Type="http://schemas.openxmlformats.org/officeDocument/2006/relationships/slide" Target="/ppt/slides/slide17.xml" Id="R1f10debe14484b16" /><Relationship Type="http://schemas.openxmlformats.org/officeDocument/2006/relationships/slide" Target="/ppt/slides/slide18.xml" Id="R16704a66dbe94e3a" /><Relationship Type="http://schemas.openxmlformats.org/officeDocument/2006/relationships/slide" Target="/ppt/slides/slide19.xml" Id="R34c28f53dbb342b1" /><Relationship Type="http://schemas.openxmlformats.org/officeDocument/2006/relationships/slide" Target="/ppt/slides/slide20.xml" Id="R9109a7bbb8cb4cca" /><Relationship Type="http://schemas.openxmlformats.org/officeDocument/2006/relationships/slide" Target="/ppt/slides/slide21.xml" Id="R1e634e17b7d047a1" /><Relationship Type="http://schemas.openxmlformats.org/officeDocument/2006/relationships/slide" Target="/ppt/slides/slide22.xml" Id="R66e13f7d01ce4406" /><Relationship Type="http://schemas.openxmlformats.org/officeDocument/2006/relationships/slide" Target="/ppt/slides/slide23.xml" Id="R614556bdc6e443ef" /><Relationship Type="http://schemas.openxmlformats.org/officeDocument/2006/relationships/slide" Target="/ppt/slides/slide24.xml" Id="Rb4cf4ac271f241e3" /><Relationship Type="http://schemas.openxmlformats.org/officeDocument/2006/relationships/slide" Target="/ppt/slides/slide25.xml" Id="Rcd3e5c89af7f4f8b" /><Relationship Type="http://schemas.openxmlformats.org/officeDocument/2006/relationships/slide" Target="/ppt/slides/slide26.xml" Id="R65527e09a66d49cf" /><Relationship Type="http://schemas.openxmlformats.org/officeDocument/2006/relationships/slide" Target="/ppt/slides/slide27.xml" Id="R7417c3befd5a4cc2" /><Relationship Type="http://schemas.openxmlformats.org/officeDocument/2006/relationships/slide" Target="/ppt/slides/slide28.xml" Id="R39bf14b601b04515" /><Relationship Type="http://schemas.openxmlformats.org/officeDocument/2006/relationships/slide" Target="/ppt/slides/slide29.xml" Id="Rebcf871645df45ab" /><Relationship Type="http://schemas.openxmlformats.org/officeDocument/2006/relationships/slide" Target="/ppt/slides/slide30.xml" Id="R42a04df71af844ca" /><Relationship Type="http://schemas.openxmlformats.org/officeDocument/2006/relationships/slide" Target="/ppt/slides/slide31.xml" Id="R5c328c7a8e5b44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dd693c66f4f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46ddb4c9a54f17" /><Relationship Type="http://schemas.openxmlformats.org/officeDocument/2006/relationships/notesMaster" Target="/ppt/notesMasters/notesMaster1.xml" Id="R48e0139d98e740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e80438dd347bf" /><Relationship Type="http://schemas.openxmlformats.org/officeDocument/2006/relationships/notesMaster" Target="/ppt/notesMasters/notesMaster1.xml" Id="R8b53610d9e0b4b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7d8f3bbd064d3c" /><Relationship Type="http://schemas.openxmlformats.org/officeDocument/2006/relationships/notesMaster" Target="/ppt/notesMasters/notesMaster1.xml" Id="Re5bf1d68db4148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756f4593084e70" /><Relationship Type="http://schemas.openxmlformats.org/officeDocument/2006/relationships/notesMaster" Target="/ppt/notesMasters/notesMaster1.xml" Id="R3eea7bcb684f4e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2c04586be741aa" /><Relationship Type="http://schemas.openxmlformats.org/officeDocument/2006/relationships/notesMaster" Target="/ppt/notesMasters/notesMaster1.xml" Id="Re276c76f48cd49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e94ae33bc4408a" /><Relationship Type="http://schemas.openxmlformats.org/officeDocument/2006/relationships/notesMaster" Target="/ppt/notesMasters/notesMaster1.xml" Id="R9292d343e03c43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40269eddf947a6" /><Relationship Type="http://schemas.openxmlformats.org/officeDocument/2006/relationships/notesMaster" Target="/ppt/notesMasters/notesMaster1.xml" Id="Ra804d0fd27594e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0d0e1f8f464297" /><Relationship Type="http://schemas.openxmlformats.org/officeDocument/2006/relationships/notesMaster" Target="/ppt/notesMasters/notesMaster1.xml" Id="R08b70b0ec99845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96dc6320d54fe5" /><Relationship Type="http://schemas.openxmlformats.org/officeDocument/2006/relationships/notesMaster" Target="/ppt/notesMasters/notesMaster1.xml" Id="R8ad6c9bab14e41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5deab266e14730" /><Relationship Type="http://schemas.openxmlformats.org/officeDocument/2006/relationships/notesMaster" Target="/ppt/notesMasters/notesMaster1.xml" Id="R1b8b8e5adf2a47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e03dfd9101495a" /><Relationship Type="http://schemas.openxmlformats.org/officeDocument/2006/relationships/notesMaster" Target="/ppt/notesMasters/notesMaster1.xml" Id="R6b633e83da834f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57ac82c206409a" /><Relationship Type="http://schemas.openxmlformats.org/officeDocument/2006/relationships/notesMaster" Target="/ppt/notesMasters/notesMaster1.xml" Id="R21e55384d1a646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5912ef87db44a7" /><Relationship Type="http://schemas.openxmlformats.org/officeDocument/2006/relationships/notesMaster" Target="/ppt/notesMasters/notesMaster1.xml" Id="R35ef97b382fb49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81256620a6496a" /><Relationship Type="http://schemas.openxmlformats.org/officeDocument/2006/relationships/notesMaster" Target="/ppt/notesMasters/notesMaster1.xml" Id="R4c99c8b941dd49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7c7f4cc31a4638" /><Relationship Type="http://schemas.openxmlformats.org/officeDocument/2006/relationships/notesMaster" Target="/ppt/notesMasters/notesMaster1.xml" Id="R30d65080a9e341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4295b9c59a45be" /><Relationship Type="http://schemas.openxmlformats.org/officeDocument/2006/relationships/notesMaster" Target="/ppt/notesMasters/notesMaster1.xml" Id="R164a0e149b4e42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2d960f0fd04832" /><Relationship Type="http://schemas.openxmlformats.org/officeDocument/2006/relationships/notesMaster" Target="/ppt/notesMasters/notesMaster1.xml" Id="R20ec0b35de8540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5f94582a814a43" /><Relationship Type="http://schemas.openxmlformats.org/officeDocument/2006/relationships/notesMaster" Target="/ppt/notesMasters/notesMaster1.xml" Id="Ra0a483c794c344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75412cf0a5454f" /><Relationship Type="http://schemas.openxmlformats.org/officeDocument/2006/relationships/notesMaster" Target="/ppt/notesMasters/notesMaster1.xml" Id="R1df7a753909243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c4b05b0d014077" /><Relationship Type="http://schemas.openxmlformats.org/officeDocument/2006/relationships/notesMaster" Target="/ppt/notesMasters/notesMaster1.xml" Id="Ra2d0db5fdb3d4a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aae69cf1b74dd2" /><Relationship Type="http://schemas.openxmlformats.org/officeDocument/2006/relationships/notesMaster" Target="/ppt/notesMasters/notesMaster1.xml" Id="R9d19cb852fb546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33c05333fe4654" /><Relationship Type="http://schemas.openxmlformats.org/officeDocument/2006/relationships/notesMaster" Target="/ppt/notesMasters/notesMaster1.xml" Id="Rd92ab5fb2b0043c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8dece0ba7340fa" /><Relationship Type="http://schemas.openxmlformats.org/officeDocument/2006/relationships/notesMaster" Target="/ppt/notesMasters/notesMaster1.xml" Id="R7375ab5fb8e4483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b9718dfa4e48e6" /><Relationship Type="http://schemas.openxmlformats.org/officeDocument/2006/relationships/notesMaster" Target="/ppt/notesMasters/notesMaster1.xml" Id="Rf165f9fdc9a3470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d192925566547e2" /><Relationship Type="http://schemas.openxmlformats.org/officeDocument/2006/relationships/notesMaster" Target="/ppt/notesMasters/notesMaster1.xml" Id="R78d5fdaa0e9f48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71e33b31564b03" /><Relationship Type="http://schemas.openxmlformats.org/officeDocument/2006/relationships/notesMaster" Target="/ppt/notesMasters/notesMaster1.xml" Id="Rf751867ed9e6493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36531b9eb2b4e43" /><Relationship Type="http://schemas.openxmlformats.org/officeDocument/2006/relationships/notesMaster" Target="/ppt/notesMasters/notesMaster1.xml" Id="R68c215efe00b495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a2890c28aec409b" /><Relationship Type="http://schemas.openxmlformats.org/officeDocument/2006/relationships/notesMaster" Target="/ppt/notesMasters/notesMaster1.xml" Id="R0a0e36c27b4242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57b89f5764b4cbf" /><Relationship Type="http://schemas.openxmlformats.org/officeDocument/2006/relationships/notesMaster" Target="/ppt/notesMasters/notesMaster1.xml" Id="R731bb18809ca4c1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333f1e8339d468e" /><Relationship Type="http://schemas.openxmlformats.org/officeDocument/2006/relationships/notesMaster" Target="/ppt/notesMasters/notesMaster1.xml" Id="R7ef04c9ef0b749f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cdc043fe1294470" /><Relationship Type="http://schemas.openxmlformats.org/officeDocument/2006/relationships/notesMaster" Target="/ppt/notesMasters/notesMaster1.xml" Id="R0d584c02c12548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Average: REAL. Phone number: STRING, because leading zeros matter and arithmetic is inappropriate.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Classroom Python is provided separately; most exam coding responses must use pseudocode.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Its name describes the value’s purpose without requiring the reader to guess.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25.5. Changing the order to calculate before input would use undefined or old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6. Y remains 5 because it stored the earlier value of X + 3.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Pass, because 50 &gt;= 50 is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Invalid choice. Only 1 and 2 have matching branches.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The outer ELSE outputs Standard. The inner age comparison does not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REPEAT…UNTIL. Input must be requested at least once; stop when the valid condition is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6, because 1 + 2 + 3 =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WHILE runs zero times. REPEAT runs once and leaves X equal to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 valid value must meet both limits. An invalid value only needs to violate one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Type checking is a separate requirement. In classroom Python, catch a conversion error before checking the numeric range.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3 and 2: 17 = 3 × 5 + 2.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contrast Python assignment = and comparison == with pseudocode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5 and 3. Check: 4 × 5 + 3 = 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"bri". Positions 4, 5 and 6 are selected.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bri, using positions 4, 5 and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Hello 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X is the parameter in the definition. Scores[1] and 10 are arguments in the 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Add a procedure example orally: PROCEDURE ShowScore(Value : INTEGER), OUTPUT Value, ENDPROCEDURE; invoke with CALL ShowScore(10).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10. The returned value can be assigned, displayed or used in another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Other parts of the program may depend on Total. The side effect makes behaviour harder to trace and reuse.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Maintenance checklist: meaningful names; short subprograms; comments explaining non-obvious purpose; consistent indentation. Avoid comments that merely repeat every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No. It can return 0 and the rounding intervals are not equally wide. In classroom Python, use randint(1, 6) for a die.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Source: 2026–2028 syllabus Version 6, page 41. Count must be positive before the division. The die is a reasoning extension, not an extra required library routine.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“Convert minutes to hours for the report” explains purpose more clearly than “divide by 60”.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19. Index 1 is the second element in this zero-based array.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Image: Hodder p.330, Figure 8.10;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0 is invalid for the declared 1…5 bounds. Zero-based arrays are also allowed if used consistently.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Use a row of five labelled boxes on the classroom board and trace reads and writes.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Five, at indexes 0, 1, 2, 3 and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48, in the second row and third column.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Image: Hodder p.331, Figure 8.11;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Six additions. Each of the three row totals receives two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Assume all array values have been populated before this fragment. Ask what happens if Total is initialised only once before both loops.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The outputs would be cumulative: 11, 33 and 39 instead of 11, 22 and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 line containing Ada,20. Reopen the file in READ mode to check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Use an end-of-file check so the program does not attempt to read past the final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Writing counterpart: OPENFILE "result.txt" FOR WRITE; WRITEFILE "result.txt", Line; CLOSEFILE "result.txt". Student task: read a name, save it, reopen and display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There may be no next line to read, including when the file is empty.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Try all zeros, all twenties, mixed scores, a rejected −1 and 21, and invalid text. Verify expected totals, means, highest values and saved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Suggested lesson 4: practical project. Start with the student brief and use the supplied Python model only after planning. For the exam 15-mark scenario, pseudocode, Python, Visual Basic or Java are allowed; use pseudocode for other coding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8 and Paper 2 conventions, in resources/chapters/08/syllabus.pdf. CUP second edition and Hodder Education 2021 chapter 8.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78da8cc6f4e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471a3cd944e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56cf158db4c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fe28d10ae4e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cbb33fb094a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2cec9291347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A5A1A7-FAC1-4D7F-A0D0-ED26DD7EF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B2D75E-8352-4662-8242-6B47936B7B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06C862-AAA2-45BB-9999-6417F2B482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98A44C-DEB9-45BB-AF6E-C76223FDEF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DC9E68-7031-468C-83DC-54B9119B5F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9D0796-57F0-4A43-9287-E78CE827E2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A6C98F-22F9-47DC-AE6F-6AB21EF4FE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DCA274-8A44-4751-8859-730CB43268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55D55F-71A0-4515-9FD3-6733D95E74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CDB2D5-675C-47F2-B7BD-59403C063D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e190f31e404e98" /><Relationship Type="http://schemas.openxmlformats.org/officeDocument/2006/relationships/slideLayout" Target="/ppt/slideLayouts/slideLayout1.xml" Id="R92891b0f2ecc46e5" /><Relationship Type="http://schemas.openxmlformats.org/officeDocument/2006/relationships/slideLayout" Target="/ppt/slideLayouts/slideLayout2.xml" Id="Rbd95f083e906420b" /><Relationship Type="http://schemas.openxmlformats.org/officeDocument/2006/relationships/slideLayout" Target="/ppt/slideLayouts/slideLayout3.xml" Id="R633e0bd6717a4cac" /><Relationship Type="http://schemas.openxmlformats.org/officeDocument/2006/relationships/slideLayout" Target="/ppt/slideLayouts/slideLayout4.xml" Id="R928ae379cd194768" /><Relationship Type="http://schemas.openxmlformats.org/officeDocument/2006/relationships/slideLayout" Target="/ppt/slideLayouts/slideLayout5.xml" Id="R7ba0b36e060740f2" /><Relationship Type="http://schemas.openxmlformats.org/officeDocument/2006/relationships/slideLayout" Target="/ppt/slideLayouts/slideLayout6.xml" Id="R9fca6406fb8b4b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891b0f2ecc46e5"/>
    <p:sldLayoutId xmlns:r="http://schemas.openxmlformats.org/officeDocument/2006/relationships" id="2147483650" r:id="Rbd95f083e906420b"/>
    <p:sldLayoutId xmlns:r="http://schemas.openxmlformats.org/officeDocument/2006/relationships" id="2147483651" r:id="R633e0bd6717a4cac"/>
    <p:sldLayoutId xmlns:r="http://schemas.openxmlformats.org/officeDocument/2006/relationships" id="2147483652" r:id="R928ae379cd194768"/>
    <p:sldLayoutId xmlns:r="http://schemas.openxmlformats.org/officeDocument/2006/relationships" id="2147483653" r:id="R7ba0b36e060740f2"/>
    <p:sldLayoutId xmlns:r="http://schemas.openxmlformats.org/officeDocument/2006/relationships" id="2147483654" r:id="R9fca6406fb8b4b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5b998ff9a4420" /><Relationship Type="http://schemas.openxmlformats.org/officeDocument/2006/relationships/notesSlide" Target="/ppt/notesSlides/notesSlide1.xml" Id="R662b48ed1fc847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f494bc8ec4039" /><Relationship Type="http://schemas.openxmlformats.org/officeDocument/2006/relationships/notesSlide" Target="/ppt/notesSlides/notesSlide2.xml" Id="R0cb45b6026aa49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d4778d7a5d4f90" /><Relationship Type="http://schemas.openxmlformats.org/officeDocument/2006/relationships/notesSlide" Target="/ppt/notesSlides/notesSlide3.xml" Id="R90ad9d4ccb9d49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a7251b15d40e4" /><Relationship Type="http://schemas.openxmlformats.org/officeDocument/2006/relationships/notesSlide" Target="/ppt/notesSlides/notesSlide4.xml" Id="Rb1a7c229502b4a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326585c0340cb" /><Relationship Type="http://schemas.openxmlformats.org/officeDocument/2006/relationships/notesSlide" Target="/ppt/notesSlides/notesSlide5.xml" Id="Rde2adff0662f44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498fbd37b471c" /><Relationship Type="http://schemas.openxmlformats.org/officeDocument/2006/relationships/notesSlide" Target="/ppt/notesSlides/notesSlide6.xml" Id="R65c7f2390daf48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dce4a947f4130" /><Relationship Type="http://schemas.openxmlformats.org/officeDocument/2006/relationships/notesSlide" Target="/ppt/notesSlides/notesSlide7.xml" Id="Rdd2c4eb0b5fe43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7bd5510ad495c" /><Relationship Type="http://schemas.openxmlformats.org/officeDocument/2006/relationships/notesSlide" Target="/ppt/notesSlides/notesSlide8.xml" Id="R8469f4eaa7b146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d010c8f5e4f1e" /><Relationship Type="http://schemas.openxmlformats.org/officeDocument/2006/relationships/notesSlide" Target="/ppt/notesSlides/notesSlide9.xml" Id="R25885465d20948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d7b7b2fbc4af2" /><Relationship Type="http://schemas.openxmlformats.org/officeDocument/2006/relationships/notesSlide" Target="/ppt/notesSlides/notesSlide10.xml" Id="R702a823d5a3541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54064c0d14164" /><Relationship Type="http://schemas.openxmlformats.org/officeDocument/2006/relationships/notesSlide" Target="/ppt/notesSlides/notesSlide11.xml" Id="R3df823f6a38e4d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efb95358449de" /><Relationship Type="http://schemas.openxmlformats.org/officeDocument/2006/relationships/notesSlide" Target="/ppt/notesSlides/notesSlide12.xml" Id="R4bf04b6a4b8d42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c53f87ff14f78" /><Relationship Type="http://schemas.openxmlformats.org/officeDocument/2006/relationships/notesSlide" Target="/ppt/notesSlides/notesSlide13.xml" Id="R95e4f8cbf9f44b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5907f67c74ccd" /><Relationship Type="http://schemas.openxmlformats.org/officeDocument/2006/relationships/notesSlide" Target="/ppt/notesSlides/notesSlide14.xml" Id="Rdd3d70d1b52643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55b2427524c47" /><Relationship Type="http://schemas.openxmlformats.org/officeDocument/2006/relationships/notesSlide" Target="/ppt/notesSlides/notesSlide15.xml" Id="Re5aa506b35794d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17f8b31904346" /><Relationship Type="http://schemas.openxmlformats.org/officeDocument/2006/relationships/notesSlide" Target="/ppt/notesSlides/notesSlide16.xml" Id="Rac19ee044d584a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3581710864ca3" /><Relationship Type="http://schemas.openxmlformats.org/officeDocument/2006/relationships/notesSlide" Target="/ppt/notesSlides/notesSlide17.xml" Id="R5464a52ac40849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009f43f5a4d2c" /><Relationship Type="http://schemas.openxmlformats.org/officeDocument/2006/relationships/notesSlide" Target="/ppt/notesSlides/notesSlide18.xml" Id="Rd80d97c60e194f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5b13f526f40b6" /><Relationship Type="http://schemas.openxmlformats.org/officeDocument/2006/relationships/notesSlide" Target="/ppt/notesSlides/notesSlide19.xml" Id="Rf7b02629763547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ca7e08d184dda" /><Relationship Type="http://schemas.openxmlformats.org/officeDocument/2006/relationships/notesSlide" Target="/ppt/notesSlides/notesSlide20.xml" Id="Rd80ddc672c4947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3087bce684722" /><Relationship Type="http://schemas.openxmlformats.org/officeDocument/2006/relationships/notesSlide" Target="/ppt/notesSlides/notesSlide21.xml" Id="R4132dc26eaa7419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6d5707a89484b" /><Relationship Type="http://schemas.openxmlformats.org/officeDocument/2006/relationships/image" Target="/ppt/media/image.png" Id="R086b5eda08714d7e" /><Relationship Type="http://schemas.openxmlformats.org/officeDocument/2006/relationships/notesSlide" Target="/ppt/notesSlides/notesSlide22.xml" Id="R797bc2ae5d7b4d5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c1451026840d3" /><Relationship Type="http://schemas.openxmlformats.org/officeDocument/2006/relationships/notesSlide" Target="/ppt/notesSlides/notesSlide23.xml" Id="Rbef91ea24f4a48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be49d0d894cbb" /><Relationship Type="http://schemas.openxmlformats.org/officeDocument/2006/relationships/notesSlide" Target="/ppt/notesSlides/notesSlide24.xml" Id="Rb60a2c595a0c4e4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2af5697fa4366" /><Relationship Type="http://schemas.openxmlformats.org/officeDocument/2006/relationships/image" Target="/ppt/media/image2.png" Id="Rd7cebb4f2d7c4125" /><Relationship Type="http://schemas.openxmlformats.org/officeDocument/2006/relationships/notesSlide" Target="/ppt/notesSlides/notesSlide25.xml" Id="Rcf50b7c6d6ce4af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d96e10c0e4f5f" /><Relationship Type="http://schemas.openxmlformats.org/officeDocument/2006/relationships/notesSlide" Target="/ppt/notesSlides/notesSlide26.xml" Id="R1dcec25f96954c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8b5f016254f31" /><Relationship Type="http://schemas.openxmlformats.org/officeDocument/2006/relationships/notesSlide" Target="/ppt/notesSlides/notesSlide27.xml" Id="Re3ce4b904a97433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2077a17e74293" /><Relationship Type="http://schemas.openxmlformats.org/officeDocument/2006/relationships/notesSlide" Target="/ppt/notesSlides/notesSlide28.xml" Id="Rc10bf759030841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a315be40e466a" /><Relationship Type="http://schemas.openxmlformats.org/officeDocument/2006/relationships/notesSlide" Target="/ppt/notesSlides/notesSlide29.xml" Id="R6b40a0fd94514e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a079bd26b442d" /><Relationship Type="http://schemas.openxmlformats.org/officeDocument/2006/relationships/notesSlide" Target="/ppt/notesSlides/notesSlide30.xml" Id="R89ce73bbcdee4ac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a32eeb6dda40d5" /><Relationship Type="http://schemas.openxmlformats.org/officeDocument/2006/relationships/notesSlide" Target="/ppt/notesSlides/notesSlide31.xml" Id="R6de43e1afefd4f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1EABE-49BD-4A83-8B0E-E7F54A89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Data and declarations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D1033-8F91-4CC4-B97B-0B114F10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Variables, constants and data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9E5F9-2C57-48EE-B0D6-D860B132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variable can change; a constant retains its value.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Use meaningful identifiers and declare types explicitly in pseudocode.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47633-805A-4DEF-9518-36BDF1ACDEF2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INTEGER / REAL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 = 5 / Mean = 12.4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 / STRING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Grade = 'A' / Name = "Ada"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BOOLEAN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= 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84D4E-64C0-49C1-A7ED-D981A4BE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type suits a score average? What type suits a phone number?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C476C-E8BE-4A77-9878-6FBC096F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D4E30-A69A-4719-924E-D9F6B887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 / 31</a:t>
            </a:r>
          </a:p>
        </p:txBody>
      </p:sp>
    </p:spTree>
    <p:extLst>
      <p:ext uri="{BB962C8B-B14F-4D97-AF65-F5344CB8AC3E}">
        <p14:creationId xmlns:p14="http://schemas.microsoft.com/office/powerpoint/2010/main" val="668126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5E81A-44FC-4E63-A0BB-F92676D8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Declarations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65F07-1536-40B1-902E-5AC584A0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Declarations and meaningful names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BA7AD-AEDF-432E-8D0A-539526F1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declaration states the identifier and its data 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776D5-9802-404A-97DB-19BAB0A9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named constant makes a fixed rule easy to find.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B786E-9A90-436A-B389-C0AAB250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CONSTANT MaxScore = 20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DECLARE Score, Count : INTEGER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DECLARE Mean : REAL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DECLARE StudentName : STRING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DECLARE Grade : CHAR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DECLARE Valid : BOOLEAN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9D716-79D6-4D1D-B8BC-E09E04FB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Why is MaxScore clearer than 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D653D-0B95-46C8-A7E5-30F2F6DA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2A358-86D0-4FC2-B47C-547A6D93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 / 31</a:t>
            </a:r>
          </a:p>
        </p:txBody>
      </p:sp>
    </p:spTree>
    <p:extLst>
      <p:ext uri="{BB962C8B-B14F-4D97-AF65-F5344CB8AC3E}">
        <p14:creationId xmlns:p14="http://schemas.microsoft.com/office/powerpoint/2010/main" val="1817235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21BED-BFD8-40D7-80DA-DCC5FCEE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3D237-C565-46A8-B8FD-AC509B90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Sequence, input and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2DEDD-BD4C-4384-B39F-74C21D2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Instructions execute in order unless a control structure changes the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6A2DC-ECDB-4415-9942-D40D312F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Assignment stores a value; OUTPUT displays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BA4CF-2170-4714-9731-CE8FC8DA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DECLARE Price, Cost : REAL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DECLARE Quantity : INTEGER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INPUT Price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INPUT Quantity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Cost ← Price * Quantity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"Cost: ",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1DBB0-FD2F-462A-8786-FDDF8701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does the final OUTPUT show if Price = 8.5 and Quantity = 3?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9DF72-A475-45CE-A93C-6C3924EC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CC53E-0A81-4798-9E4A-0C092808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3 / 31</a:t>
            </a:r>
          </a:p>
        </p:txBody>
      </p:sp>
    </p:spTree>
    <p:extLst>
      <p:ext uri="{BB962C8B-B14F-4D97-AF65-F5344CB8AC3E}">
        <p14:creationId xmlns:p14="http://schemas.microsoft.com/office/powerpoint/2010/main" val="933177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B43C4-021A-4D7B-8C49-22EF50B2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Assignment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9FDE9-3987-4480-9736-D7EDA58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Assignment changes the current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7FF91-4FFD-4B71-B3CA-9A0B444D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Evaluate the right side using the current values.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Then replace the value stored on the left.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60BE5-BD89-4F46-BD1A-D7FD95027E72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76800"/>
                <a:gridCol w="3048000"/>
                <a:gridCol w="30480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Instruction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 ←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 ← X + 3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 ← Y + 1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 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9166C-87B8-4C18-93D1-BBB77074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does OUTPUT X display?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2F3BC-2D14-4FB1-A74F-B462074A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61F97-9F73-4797-BF51-78670BBD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4 / 31</a:t>
            </a:r>
          </a:p>
        </p:txBody>
      </p:sp>
    </p:spTree>
    <p:extLst>
      <p:ext uri="{BB962C8B-B14F-4D97-AF65-F5344CB8AC3E}">
        <p14:creationId xmlns:p14="http://schemas.microsoft.com/office/powerpoint/2010/main" val="1703247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971F4-4923-45D7-A9A8-215FE8E7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0AB2D-A83C-4E2E-9645-1010465A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IF selects a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78FEC-13E8-495A-9514-5AA1176F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condition produces TRUE or FALSE.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3CE1F-B290-43DC-9272-E09CFD23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Only the selected branch runs.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2DB87-FCE3-4103-946A-9E03B2E9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IF Mark &gt;= 50 THEN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OUTPUT "Pass"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ELSE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OUTPUT "Try again"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96EBD-E54A-479F-8AD9-232020F8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Which output appears for Mark = 50?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23F52-4170-4FC1-AF57-44B19DB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8BD5B-2BB0-42B4-8969-1EB58D6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5 / 31</a:t>
            </a:r>
          </a:p>
        </p:txBody>
      </p:sp>
    </p:spTree>
    <p:extLst>
      <p:ext uri="{BB962C8B-B14F-4D97-AF65-F5344CB8AC3E}">
        <p14:creationId xmlns:p14="http://schemas.microsoft.com/office/powerpoint/2010/main" val="1882634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37D50-2701-45A2-AB27-FB4B7E0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E1FE5-B194-4835-9A1D-68767771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CASE selects a matching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6F107-BC00-4A4B-B05B-4982AD64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IF can test a Boolean expression or a range.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31EB4-E5AF-4A40-8B85-7817F85B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CASE is useful when one value selects among discrete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CB083-0712-452A-B3AC-3AD9067B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optional OTHERWISE branch handles unmatched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AFCFA-6752-4A93-A6BF-11883D78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CASE OF Choice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1 : OUTPUT "Add"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2 : OUTPUT "Search"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OTHERWISE OUTPUT "Invalid choice"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B1AA3-152F-4F64-938F-09B11D0D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is output for Choice = 3?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C3D8C-BF67-429D-87C5-490F27D3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F4059-AC8B-4E3B-933F-6E26914B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6 / 31</a:t>
            </a:r>
          </a:p>
        </p:txBody>
      </p:sp>
    </p:spTree>
    <p:extLst>
      <p:ext uri="{BB962C8B-B14F-4D97-AF65-F5344CB8AC3E}">
        <p14:creationId xmlns:p14="http://schemas.microsoft.com/office/powerpoint/2010/main" val="1862404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23553-5EB3-41C3-A9A5-AD26FFFC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Nested statements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83842-46E4-4443-B1D7-51F59F00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Nested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2B0C7-1D36-4C9F-A651-0A5D41FC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An inner IF runs only when its outer branch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ACB6F-6397-4F36-8B5B-EA1212CD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Indentation shows which ENDIF closes each IF.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7ECDC-FC79-4B7A-BDFD-4C008638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IF Member = TRUE THEN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IF Age &lt; 16 THEN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OUTPUT "Junior member"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ELSE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OUTPUT "Adult member"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ENDIF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ELSE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OUTPUT "Standard"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D3364-0108-4DF6-8E4F-6DDC3258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happens when Member = FALSE and Age = 12?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62698-2D3B-4120-B4B8-03DF4B86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65BEF-780E-4690-9556-E579DE5E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7 / 31</a:t>
            </a:r>
          </a:p>
        </p:txBody>
      </p:sp>
    </p:spTree>
    <p:extLst>
      <p:ext uri="{BB962C8B-B14F-4D97-AF65-F5344CB8AC3E}">
        <p14:creationId xmlns:p14="http://schemas.microsoft.com/office/powerpoint/2010/main" val="1928675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2AEB2-8DDA-4B56-B8B3-46488FB6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54EC7-8247-4CB1-98DC-EF223719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Choosing a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A985C-B359-45BA-9234-E0613DA3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FOR suits a known number of repetitions.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WHILE tests before the body and may run zero times.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REPEAT tests after the body and runs at least once.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2E0CF-DCDA-4A40-BD01-F6FCE45E8E1C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Loop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 meaning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 Index ← 1 TO 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Execute for indexes 1, 2, 3, 4, 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WHILE Score &lt; 0 DO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Continue while the condition is 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REPEAT … UNTIL Score &gt;= 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Stop when the condition becomes 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CD87C-F4D5-44FA-ADD5-F473875E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Which loop naturally fits prompting until input is valid?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35F6A-93BA-4F2D-B058-03AC1FEA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6058A-F901-4887-899B-4545220C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8 / 31</a:t>
            </a:r>
          </a:p>
        </p:txBody>
      </p:sp>
    </p:spTree>
    <p:extLst>
      <p:ext uri="{BB962C8B-B14F-4D97-AF65-F5344CB8AC3E}">
        <p14:creationId xmlns:p14="http://schemas.microsoft.com/office/powerpoint/2010/main" val="1295685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61441-AF53-44B3-8F97-D7047BA2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Count-controlled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AA489-0087-41B3-B98A-A2B84B0B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FOR loops: the counter and total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144FF-B855-48E0-A762-E953AA9B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counter changes automatically at NEXT.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Initialise Total before entering the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8C7C5-E289-4289-9529-42368E3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64008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Total ← 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FOR Index ← 1 TO 3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Total ← Total + Index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NEXT Index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Total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1FB1A-E8C9-446B-B208-64E30F96DFB7}"/>
              </a:ext>
            </a:extLst>
          </p:cNvPr>
          <p:cNvGraphicFramePr/>
          <p:nvPr/>
        </p:nvGraphicFramePr>
        <p:xfrm>
          <a:off xmlns:a="http://schemas.openxmlformats.org/drawingml/2006/main" x="7429500" y="2838450"/>
          <a:ext xmlns:a="http://schemas.openxmlformats.org/drawingml/2006/main" cx="41529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7191"/>
                <a:gridCol w="2385709"/>
              </a:tblGrid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after addition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CD897-FA2C-43AB-81A5-884DEDC2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is Total after the third iteration?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2BD18-B719-48FE-8BC8-9876D285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E78C5-B003-49AA-BC5F-E9E526D9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9 / 31</a:t>
            </a:r>
          </a:p>
        </p:txBody>
      </p:sp>
    </p:spTree>
    <p:extLst>
      <p:ext uri="{BB962C8B-B14F-4D97-AF65-F5344CB8AC3E}">
        <p14:creationId xmlns:p14="http://schemas.microsoft.com/office/powerpoint/2010/main" val="43624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C5642-8749-4F90-BD7E-4D7C6900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Loop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6FDFF-5CED-4093-96F3-9B37D34E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Pre-condition and post-condition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581E4-47D6-4B99-8707-BA0684F9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WHILE tests before the body.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A5C84-D240-45D9-A22D-6A2DC55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REPEAT tests after the body.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D52ED-6A89-4D19-9F3B-E64E876A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same starting value can lead to a different number of executions.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1722F-B9A5-4C4A-A713-92A243D4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X ← 5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WHILE X &lt; 3 DO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X ← X + 1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ENDWHILE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X ← 5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REPEAT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X ← X + 1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UNTIL X &gt;=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5ABA3-7A42-41CA-A194-A660D04A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If X starts at 5, how many times does each body run?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DC3E0-32B2-4D09-BAC6-3BBCF0EF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010DC-23DB-4210-A817-FE9B08C1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10 / 31</a:t>
            </a:r>
          </a:p>
        </p:txBody>
      </p:sp>
    </p:spTree>
    <p:extLst>
      <p:ext uri="{BB962C8B-B14F-4D97-AF65-F5344CB8AC3E}">
        <p14:creationId xmlns:p14="http://schemas.microsoft.com/office/powerpoint/2010/main" val="13523761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D7E54-4D1F-47D9-BF9F-48191DC9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Nested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E10DB-4B30-4348-AB1A-41211C8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validation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02154-17A4-4C6C-A03E-9B214A79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stopping condition describes valid input.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6DEBD-F541-4C8C-A942-AD7C096E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Both lower and upper limits must be satisfied.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ECAEC-14C8-4146-A003-8C714A8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This example assumes the input is already an integer.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69DFF-5AB7-4F33-BE6E-3D43F987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REPEAT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OUTPUT "Enter score, 0 to 20"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INPUT Score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UNTIL Score &gt;= 0 AND Score &lt;=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62B64-A9E0-42D7-9713-8D847C77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Why use AND in UNTIL but OR in a rejection condition?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0A358-13FD-4913-9B21-6DAD0A92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91642-943A-4389-9E86-22D92281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11 / 31</a:t>
            </a:r>
          </a:p>
        </p:txBody>
      </p:sp>
    </p:spTree>
    <p:extLst>
      <p:ext uri="{BB962C8B-B14F-4D97-AF65-F5344CB8AC3E}">
        <p14:creationId xmlns:p14="http://schemas.microsoft.com/office/powerpoint/2010/main" val="14715535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1286A-5BDE-476B-A7D4-08392928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Operators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2A085-83FE-4CFC-AA1B-F4F5384B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Arithmetic, relational and logical operators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6ADDB-27BD-4FE9-9001-F0A9E490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Arithmetic calculates; relational operators compare; logical operators combine conditions.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In pseudocode, = compares and ← assigns.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Use parentheses to make a compound condition explicit.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C6914-0C9A-4735-BC9F-F7F0C0A5B7EC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Operators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Arithmetic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  −  *  /  ^  DIV  MOD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Relational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=  &lt;&gt;  &lt;  &lt;=  &gt;  &gt;=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Logical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AND  OR  NOT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4D09F-26E9-4D23-B823-E3437EA5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Evaluate 17 DIV 5 and 17 MOD 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01473-A692-492B-AC5F-561A093F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FCD87-2C98-4C0F-9AEA-D44789F0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12 / 31</a:t>
            </a:r>
          </a:p>
        </p:txBody>
      </p:sp>
    </p:spTree>
    <p:extLst>
      <p:ext uri="{BB962C8B-B14F-4D97-AF65-F5344CB8AC3E}">
        <p14:creationId xmlns:p14="http://schemas.microsoft.com/office/powerpoint/2010/main" val="7823721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74B3E-C3C8-4FD9-8A79-99DECDB9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Arithmetic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7EE78-F441-4C63-A98D-387E23C5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DIV and MOD divide a quantity differently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CCE1A-A461-42D7-AE4C-9F1AB45F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17 objects can fill three groups of five.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DIV gives the whole-number quotient. MOD gives the remainder.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D0E7A-1689-4E30-AFFF-765E93F18D1D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Expression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 / 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Ordinary division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 DIV 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groups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 MOD 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Objects left over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* 3 + 2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 the original quantity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BF2BA-AA09-47F8-AFBB-921FCDD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are 23 DIV 4 and 23 MOD 4?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DF5B0-AE8E-4F98-81DD-7D74633A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5CC19-5B5B-4F53-8C02-86946E19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13 / 31</a:t>
            </a:r>
          </a:p>
        </p:txBody>
      </p:sp>
    </p:spTree>
    <p:extLst>
      <p:ext uri="{BB962C8B-B14F-4D97-AF65-F5344CB8AC3E}">
        <p14:creationId xmlns:p14="http://schemas.microsoft.com/office/powerpoint/2010/main" val="6368073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C5E71-8FFC-4A5C-B7B8-A65CE3E0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String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67A08-C909-4818-95E9-EA2C4374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String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EE634-DE35-466B-A669-9C68029C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Declare the indexing convention before taking a substring.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FB7A2-D5BA-4F20-9F2B-0C02B0A9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Cambridge examples generally use position 1 for the first character.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C8548-83B4-4891-A3F9-8058C4C2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substring uses a start position and a length, not an end 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CD222-61F4-428D-A9D8-917212BB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Code ← "Cambridge"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LENGTH(Code)       // 9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UCASE(Code)        // CAMBRIDGE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LCASE(Code)        // cambridge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SUBSTRING(Code, 1, 3) // Cam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F9FA6-B22C-4D46-90CF-A67F5BA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With Code = "Cambridge", what is SUBSTRING(Code, 4, 3)?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28297-51AC-4382-AAF4-0DE4A86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7B79D-6CCE-4083-9DA4-6F93D604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14 / 31</a:t>
            </a:r>
          </a:p>
        </p:txBody>
      </p:sp>
    </p:spTree>
    <p:extLst>
      <p:ext uri="{BB962C8B-B14F-4D97-AF65-F5344CB8AC3E}">
        <p14:creationId xmlns:p14="http://schemas.microsoft.com/office/powerpoint/2010/main" val="20847923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4E6D9-9EB4-4D95-B7B8-AC7F675C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String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43010-2FBF-4D8B-A603-3DC46229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Substring positions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8B3C0-948B-4A80-96C8-4875084F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This example uses position 1 for the first character.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third argument of SUBSTRING gives a length.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FBAFA-E2D7-4ECB-98EE-96038F0CE881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Character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79C1F-68A4-4CE5-B773-0A7175C4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is SUBSTRING("Cambridge", 4, 3)?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5AF6D-3AA4-4CFB-9947-84112456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8B309-B3D9-4E2A-80F4-3F87B7F2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15 / 31</a:t>
            </a:r>
          </a:p>
        </p:txBody>
      </p:sp>
    </p:spTree>
    <p:extLst>
      <p:ext uri="{BB962C8B-B14F-4D97-AF65-F5344CB8AC3E}">
        <p14:creationId xmlns:p14="http://schemas.microsoft.com/office/powerpoint/2010/main" val="17580905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1F6F8-70CB-4322-8470-37EE1846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Procedures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164F9-7F36-4CDF-BB68-75C1B40F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Procedures perform a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D62DB-06FD-4BFA-85F3-E8165511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Parameters supply values to a reusable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3FE83-386B-42C0-A49E-379E5571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CALL runs the procedure.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A6665-CA1E-45C6-AEDA-0246B621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PROCEDURE Greet(Name : STRING)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OUTPUT "Hello ", Name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ENDPROCEDURE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CALL Greet("Ada")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71EB8-D549-4B33-A764-E5D2E5E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output follows this call?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E9AE3-7D46-4E9B-9290-E887D059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8110D-D906-4D36-884B-922A7143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16 / 31</a:t>
            </a:r>
          </a:p>
        </p:txBody>
      </p:sp>
    </p:spTree>
    <p:extLst>
      <p:ext uri="{BB962C8B-B14F-4D97-AF65-F5344CB8AC3E}">
        <p14:creationId xmlns:p14="http://schemas.microsoft.com/office/powerpoint/2010/main" val="13389065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9415C-1FE0-47ED-9AD3-95ABD903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Subprograms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11F60-063C-4DDA-8E86-83B9B15E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Functions return a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D5D27-962F-4625-9088-9B90B98B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procedure is called to carry out a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3ED0F-5F14-419D-9ED3-0071C3C1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function returns a value that can be used in an expression.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2233A-73CE-4F9E-BA0F-BB6C46EA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Parameters carry values into the subprogram.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19E96-FB84-4ADB-9936-304155F1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FUNCTION Double(X : INTEGER) RETURNS INTEGER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RETURN X * 2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ENDFUNCTION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Double(Scores[1])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Double(10)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BAF0E-409B-4B31-94C9-8528DD50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Which item is the parameter, and which values are arguments?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7DBFF-FFA0-4B0B-8FD1-E67E2810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E9F6A-C0B3-43C6-8E91-FB2A26C2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17 / 31</a:t>
            </a:r>
          </a:p>
        </p:txBody>
      </p:sp>
    </p:spTree>
    <p:extLst>
      <p:ext uri="{BB962C8B-B14F-4D97-AF65-F5344CB8AC3E}">
        <p14:creationId xmlns:p14="http://schemas.microsoft.com/office/powerpoint/2010/main" val="331190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4422F-6E9A-42B8-9BCB-652FAB5B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Function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330F1-B3F5-4AB1-8F6C-20D81384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function call: arguments and return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AC440-A4A0-4E7B-909F-C76C4941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Arguments fill the parameters for one call.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880A2-D334-4FF6-996A-B300F5A6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RETURN sends one result back to the calling expression.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E5510-52A1-41A2-B529-A41A37AB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FUNCTION MeanOfTwo(A : REAL, B : REAL)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RETURNS REAL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RETURN (A + B) / 2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ENDFUNCTION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Result ← MeanOfTwo(8, 12)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98D41-FA25-4537-AEE7-B19F1D34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value does MeanOfTwo(8, 12) return?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A18E4-DE72-410C-8E51-EA213DB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5CFD5-2918-4EFD-AA08-6D4BCD99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18 / 31</a:t>
            </a:r>
          </a:p>
        </p:txBody>
      </p:sp>
    </p:spTree>
    <p:extLst>
      <p:ext uri="{BB962C8B-B14F-4D97-AF65-F5344CB8AC3E}">
        <p14:creationId xmlns:p14="http://schemas.microsoft.com/office/powerpoint/2010/main" val="7230499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AF935-6BBD-45B3-A756-E075DEFC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Scope and maintainability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86072-0CC5-465A-AC08-564A315C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Local and global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7BFEB-DA0B-485D-8F6E-08481D87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FB959-8966-4A99-8AE3-BF9BC693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local variable is accessible within its subprogram.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AF42D-45EC-40A8-ADBA-2D69C070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34581-3F52-4773-B830-E7ED317A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global variable can be accessed across the program in its declared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6AD57-1F72-41D7-A29F-BF028166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5053C-659E-4A01-8A09-3C11FB59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Prefer parameters and return values when they make dependencies clearer.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A8529-BCC8-4C3A-9B09-C5B73F2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Why is changing an unrelated global Total inside a function risky?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01D43-F237-45D2-B2C4-ED0C5D20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34A9D-7D69-47EB-A3EB-78943C8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19 / 31</a:t>
            </a:r>
          </a:p>
        </p:txBody>
      </p:sp>
    </p:spTree>
    <p:extLst>
      <p:ext uri="{BB962C8B-B14F-4D97-AF65-F5344CB8AC3E}">
        <p14:creationId xmlns:p14="http://schemas.microsoft.com/office/powerpoint/2010/main" val="7484894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81ADE-D91B-4F71-A310-077586D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Library routines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C4A4F-708F-43B0-801D-4BC0C28D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ROUND and RANDOM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30636-84D6-4976-BC62-B46B943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Version 6 permits ROUND on an identifier or an expression.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BF07C-6061-4079-B59D-30E5D88E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RANDOM() returns a value from 0 to 1 inclusive in Cambridge pseudocode.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B2927-53B2-4484-90E3-5CA4433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Different programming languages have different random-number APIs.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800F0-4178-4C6C-ABD3-7C3513C4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Mean ← ROUND(Total / Count, 2)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R ← RANDOM()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Remainder ← 17 MOD 5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Quotient ← 17 DIV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2F008-D91C-4162-A4D5-C009686F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Does ROUND(RANDOM() * 6, 0) model a fair six-sided die?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4E2B5-3789-4EF0-B976-99AAF6B9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2FEC4-4A01-4451-9CE1-98620A4B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20 / 31</a:t>
            </a:r>
          </a:p>
        </p:txBody>
      </p:sp>
    </p:spTree>
    <p:extLst>
      <p:ext uri="{BB962C8B-B14F-4D97-AF65-F5344CB8AC3E}">
        <p14:creationId xmlns:p14="http://schemas.microsoft.com/office/powerpoint/2010/main" val="8108834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408EE-75F6-4025-A8CE-92768A26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 · Maintainability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E4DAC-EA4F-48FB-9121-CF3618A8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Maintainable programs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0079D-D499-4C59-A7BA-9C91DE16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Names describe the data or task.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Comments explain a rule or reason.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subprogram keeps one reusable task in one place.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41F8A-4AB4-40D0-B7BD-0599764E3C9F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9277"/>
                <a:gridCol w="6303523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Less clear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More informative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TotalMinutes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ReadValidScore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 in several conditions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Named constant MaxScore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// add 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// count one accepted entry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86100-52E5-4AA9-A1E2-00E4F45B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Which comment explains the reason for the calculation?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A3C63-3FDD-4508-BFA4-89C19668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D04E6-3F99-416C-922D-A6CD68DC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21 / 31</a:t>
            </a:r>
          </a:p>
        </p:txBody>
      </p:sp>
    </p:spTree>
    <p:extLst>
      <p:ext uri="{BB962C8B-B14F-4D97-AF65-F5344CB8AC3E}">
        <p14:creationId xmlns:p14="http://schemas.microsoft.com/office/powerpoint/2010/main" val="7907843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AE248-39BB-4711-9760-540AC3FE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8.2 · Array indexing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0A5AD-CB79-4183-ADE6-2F6DA01C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One-dimensional arrays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94E3E-564B-463E-87AC-395C2B50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One index identifies one element.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A30B9-D6A3-4074-86AE-85F5A1A6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This textbook example uses indexes 0 to 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5B28D-BD18-422F-951B-789315D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ten elements have the same data type.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0759E-6741-447A-B12F-C82587C7E3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b5eda08714d7e"/>
          <a:stretch xmlns:a="http://schemas.openxmlformats.org/drawingml/2006/main"/>
        </p:blipFill>
        <p:spPr>
          <a:xfrm xmlns:a="http://schemas.openxmlformats.org/drawingml/2006/main">
            <a:off x="6949292" y="1619250"/>
            <a:ext cx="2636816" cy="3790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5BA97-C08E-4D27-8484-24027CD5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p.330, Figure 8.10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75D8E-52D7-41AC-99DB-0993707B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value is stored at index 1 in the diagram?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E6CE9-7046-490C-A526-F007C64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2DA5C-1B91-44F5-8A67-61A4E0A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22 / 31</a:t>
            </a:r>
          </a:p>
        </p:txBody>
      </p:sp>
    </p:spTree>
    <p:extLst>
      <p:ext uri="{BB962C8B-B14F-4D97-AF65-F5344CB8AC3E}">
        <p14:creationId xmlns:p14="http://schemas.microsoft.com/office/powerpoint/2010/main" val="13990066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9CE9B-93B5-40C5-9AE1-345AB634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8.2 · One-dimensional arrays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9C16C-5095-4EAF-A423-77B58108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Declaring and traversing an array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904F3-B260-46D9-91B7-30470706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One identifier names a collection of elements with one data 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2596C-8852-4510-A369-A9307D7E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An index selects an element. Keep every index within the declared bounds.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00BE0-B759-454B-AE35-1569BF88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DECLARE Scores : ARRAY[1:5] OF INTEGER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FOR Index ← 1 TO 5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INPUT Scores[Index]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NEXT Index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OUTPUT Scores[3]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C9F38-4ED5-4A60-B13D-E0913C1D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Which index is invalid for Scores: 0, 1 or 5?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94D2A-6E1C-4D82-8357-7DC2A368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89BDC-3EF6-4621-89A8-D1AAB53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23 / 31</a:t>
            </a:r>
          </a:p>
        </p:txBody>
      </p:sp>
    </p:spTree>
    <p:extLst>
      <p:ext uri="{BB962C8B-B14F-4D97-AF65-F5344CB8AC3E}">
        <p14:creationId xmlns:p14="http://schemas.microsoft.com/office/powerpoint/2010/main" val="3678893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E418E-A79B-41D8-8BE3-FE72A0C0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8.2 · Bounds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556F2-4258-4DF6-B4CA-773F8C6E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Array bounds and element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01EBE-7962-44BC-ABF0-8F912C25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declaration determines every legal index.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For inclusive bounds, count = upper − lower + 1.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677EA-3B14-45B3-9D0F-C50E2A754FDE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Declaration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Legal indexes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Elements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ARRAY[1:5]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through 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ARRAY[0:4]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through 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ARRAY[1:3, 1:2]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 1–3, columns 1–2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0BDE3-7D97-428D-A289-C3B06110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How many elements does ARRAY[0:4] contain?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796A8-D474-4A8B-BA75-969EDEE9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E5009-0A4C-4CCB-AD3C-2D98D150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24 / 31</a:t>
            </a:r>
          </a:p>
        </p:txBody>
      </p:sp>
    </p:spTree>
    <p:extLst>
      <p:ext uri="{BB962C8B-B14F-4D97-AF65-F5344CB8AC3E}">
        <p14:creationId xmlns:p14="http://schemas.microsoft.com/office/powerpoint/2010/main" val="12581675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ACDD1-429B-48E1-9D18-4664368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8.2 · Two indexes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5E46A-DB51-4A7F-9736-F3DEEFB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Two-dimensional arrays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804C6-95AA-4B8E-9554-299B3AA7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first index selects a row. The second selects a column.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5C86D-A9E0-4CA6-9653-E1BD1975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This textbook diagram uses row and column indexes starting at 0.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8E278-1D55-4F7C-8E05-969464269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ebb4f2d7c4125"/>
          <a:stretch xmlns:a="http://schemas.openxmlformats.org/drawingml/2006/main"/>
        </p:blipFill>
        <p:spPr>
          <a:xfrm xmlns:a="http://schemas.openxmlformats.org/drawingml/2006/main">
            <a:off x="5657252" y="1619250"/>
            <a:ext cx="5220895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C6A33-FCB4-4968-A7A7-859777DF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p.331, Figure 8.11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DE141-C473-457B-9A7F-DF715D61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is MyTable[1, 2] in the diagram?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80F18-3F97-4DB6-BDE4-C87A39D3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D9745-74D0-4D16-A5F0-1BCC2A67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25 / 31</a:t>
            </a:r>
          </a:p>
        </p:txBody>
      </p:sp>
    </p:spTree>
    <p:extLst>
      <p:ext uri="{BB962C8B-B14F-4D97-AF65-F5344CB8AC3E}">
        <p14:creationId xmlns:p14="http://schemas.microsoft.com/office/powerpoint/2010/main" val="9601781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2BA96-B0B9-4F03-9BE2-88B9E8A5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8.2 · Two-dimensional arrays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E324D-40B8-4199-BF25-20DBF9BF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Nested iteration through a 2D array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B1A93-97AA-4DFC-B350-311B9AE5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Rows identify students; columns identify quiz attempts.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8954A-48C4-44CA-A7D8-2993E301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Use nested iteration to visit every cell.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D1182-FF40-40A0-B8CD-67F87603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Reset a row total inside the outer loop, before the inner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687F1-A53D-4791-8984-6B9A0934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DECLARE Mark : ARRAY[1:3, 1:2] OF INTEGER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// Assume Mark has already been populated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FOR Student ← 1 TO 3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Total ← 0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FOR Quiz ← 1 TO 2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    Total ← Total + Mark[Student, Quiz]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NEXT Quiz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OUTPUT Total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NEXT Student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87692-71F4-4CB9-BC6B-9875CA41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How many additions are performed for 3 students and 2 quizzes?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4E822-15E8-4287-BDEF-EEFA5E3D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ACC37-855C-4EE3-9A90-381BA462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26 / 31</a:t>
            </a:r>
          </a:p>
        </p:txBody>
      </p:sp>
    </p:spTree>
    <p:extLst>
      <p:ext uri="{BB962C8B-B14F-4D97-AF65-F5344CB8AC3E}">
        <p14:creationId xmlns:p14="http://schemas.microsoft.com/office/powerpoint/2010/main" val="15144732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AA74D-4EB5-48FD-8874-A0564493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8.2 · Nested-loop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298B6-AD7D-40A3-8509-9FA7F93D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row-total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EEE30-2DFC-4BDF-AAC4-61D8D8FE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Mark contains rows [4, 7], [2, 20], [0, 6].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Reset Total when a new student starts.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956B0-EC1F-415D-AB41-B43AA70C5C7F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Quiz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Quiz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 Total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8B30C-0DE6-4B42-9302-8C420EC1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would happen if Total were initialised only once?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E1012-9AF6-476B-ACA3-467B9FC0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CFDBF-8AC5-4B7E-BA2C-195A3214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27 / 31</a:t>
            </a:r>
          </a:p>
        </p:txBody>
      </p:sp>
    </p:spTree>
    <p:extLst>
      <p:ext uri="{BB962C8B-B14F-4D97-AF65-F5344CB8AC3E}">
        <p14:creationId xmlns:p14="http://schemas.microsoft.com/office/powerpoint/2010/main" val="8019821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575CE-3459-488E-8CBD-5A4DAC28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8.3 · Writing a 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5D4A2-0797-4A89-949E-133805CE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Writing persistent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36766-D3C8-4B40-ADA4-8DAD38CE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Open the file in WRITE mode before writing.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E2BF6-D4F2-48C0-809D-66094FAD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Close it when the operation finishes.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93748-818C-4CC4-BC3D-4698AFA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WRITE can replace existing contents.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222B2-3707-4EDF-A435-F2B98DD2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OPENFILE "summary.txt" FOR WRITE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Line ← "Ada,20"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WRITEFILE "summary.txt", Line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CLOSEFILE "summary.txt"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52627-CAC3-484D-9B27-E74076AC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should the file contain after this code?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C13A9-BB9D-4F6B-979E-DC170664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F8E06-8C10-4C77-9AA9-A36EDD11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28 / 31</a:t>
            </a:r>
          </a:p>
        </p:txBody>
      </p:sp>
    </p:spTree>
    <p:extLst>
      <p:ext uri="{BB962C8B-B14F-4D97-AF65-F5344CB8AC3E}">
        <p14:creationId xmlns:p14="http://schemas.microsoft.com/office/powerpoint/2010/main" val="12360175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B3EFA-A0FF-4F5B-B8C5-34C4C18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8.3 · File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CC813-41CE-47F3-BDF3-0EB21AB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Reading a file until the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379B6-3D34-4835-91AF-3C04CB3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Variables normally disappear when a program finishes; files preserve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C711C-23A1-4525-91ED-318699CE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Open a file in the intended mode, read or write, then close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23487-C469-4265-92E4-091C89B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Writing to a file may replace its previous contents.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7049F-DDEF-41AD-99DB-B2E1429A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OPENFILE "scores.txt" FOR READ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WHILE NOT EOF("scores.txt") DO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READFILE "scores.txt", Line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    OUTPUT Line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ENDWHILE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CLOSEFILE "scores.txt"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D4B44-4B80-433F-9652-184E28A2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What must be checked before reading repeatedly to the end of a file?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67076-4DED-48D8-BFDC-97EAE30B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0ECA7-9843-4858-B33F-8B26B7A2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29 / 31</a:t>
            </a:r>
          </a:p>
        </p:txBody>
      </p:sp>
    </p:spTree>
    <p:extLst>
      <p:ext uri="{BB962C8B-B14F-4D97-AF65-F5344CB8AC3E}">
        <p14:creationId xmlns:p14="http://schemas.microsoft.com/office/powerpoint/2010/main" val="814893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2200D-F4B1-4F9D-A650-0DD14306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8.3 · Read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C36BF-140A-4777-8B49-D5F42281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The file cursor and EOF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03A8B-2071-4E99-883C-E1709D67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Suppose the file has two lines: Ada,20 and Ben,15.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Check for end of file before reading another line.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559C0-A8A3-448F-B97B-2A32E17CDD60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Before reading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EOF?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006D77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 first 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 and output Ada,20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 second 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 and output Ben,15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final 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Leave loop and close 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332B3-42DB-4386-9E02-6A6498B9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Why should the program check EOF before READFILE?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C598F-0170-4D00-8506-C02683A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F1C62-A882-43C3-99A2-01515073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30 / 31</a:t>
            </a:r>
          </a:p>
        </p:txBody>
      </p:sp>
    </p:spTree>
    <p:extLst>
      <p:ext uri="{BB962C8B-B14F-4D97-AF65-F5344CB8AC3E}">
        <p14:creationId xmlns:p14="http://schemas.microsoft.com/office/powerpoint/2010/main" val="14869803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32ED-2824-4728-80A3-3C00DF4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CHAPTER 8   8.1–8.3 ·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BDDFA-F40C-4925-BACC-49F2FC6B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Complete programming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706A3-1EFE-481D-BC0C-00DA7E5D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705F1-0E32-4985-9188-132B7D6B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Read five validated scores into an array.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27B59-C76E-47B0-802C-EF0C8B38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13849-4FEE-42B2-ACA6-48FCC8F5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Calculate total, mean and highest using named subprograms.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C2B95-24DC-4D70-9598-2B54366D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8B207-BC39-40E8-B5AB-0C72B6E3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Save a summary; then reopen it to confirm the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93650-7D1C-45C7-BD79-3FF0C906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D77"/>
                </a:solidFill>
                <a:latin typeface="Helvetica Neue"/>
                <a:ea typeface="Helvetica Neue"/>
                <a:cs typeface="Helvetica Neue"/>
              </a:rPr>
              <a:t>CHECK  Which tests cover both validation and calculation?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D49C5-02A0-4B19-848A-BCBC8EE8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470DB-0145-4988-B651-659E3501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31 / 31</a:t>
            </a:r>
          </a:p>
        </p:txBody>
      </p:sp>
    </p:spTree>
    <p:extLst>
      <p:ext uri="{BB962C8B-B14F-4D97-AF65-F5344CB8AC3E}">
        <p14:creationId xmlns:p14="http://schemas.microsoft.com/office/powerpoint/2010/main" val="125988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2026-10-13T08:07:06.8300000Z</dcterms:created>
  <dcterms:modified xsi:type="dcterms:W3CDTF">2026-10-13T08:07:06.8300000Z</dcterms:modified>
</coreProperties>
</file>