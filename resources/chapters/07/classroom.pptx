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4ce99452e147b2" /><Relationship Type="http://schemas.openxmlformats.org/officeDocument/2006/relationships/extended-properties" Target="/docProps/app.xml" Id="R35401fdc1fe84fac" /><Relationship Type="http://schemas.openxmlformats.org/officeDocument/2006/relationships/officeDocument" Target="/ppt/presentation.xml" Id="Re4f24447174e45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ce911151874d3c"/>
  </p:sldMasterIdLst>
  <p:notesMasterIdLst>
    <p:notesMasterId xmlns:r="http://schemas.openxmlformats.org/officeDocument/2006/relationships" r:id="R451afce2967d4a76"/>
  </p:notesMasterIdLst>
  <p:sldIdLst>
    <p:sldId xmlns:r="http://schemas.openxmlformats.org/officeDocument/2006/relationships" id="256" r:id="R8e5eaa5e44bb4c89"/>
    <p:sldId xmlns:r="http://schemas.openxmlformats.org/officeDocument/2006/relationships" id="257" r:id="Rf8abc9793ce14ae4"/>
    <p:sldId xmlns:r="http://schemas.openxmlformats.org/officeDocument/2006/relationships" id="258" r:id="R741dbfbedd514dd1"/>
    <p:sldId xmlns:r="http://schemas.openxmlformats.org/officeDocument/2006/relationships" id="259" r:id="Rb13450a8f8d64f87"/>
    <p:sldId xmlns:r="http://schemas.openxmlformats.org/officeDocument/2006/relationships" id="260" r:id="Rdc16a61cfed04369"/>
    <p:sldId xmlns:r="http://schemas.openxmlformats.org/officeDocument/2006/relationships" id="261" r:id="Re6ff483befac4366"/>
    <p:sldId xmlns:r="http://schemas.openxmlformats.org/officeDocument/2006/relationships" id="262" r:id="Rf3c338b93fa14350"/>
    <p:sldId xmlns:r="http://schemas.openxmlformats.org/officeDocument/2006/relationships" id="263" r:id="R226511f505004f1a"/>
    <p:sldId xmlns:r="http://schemas.openxmlformats.org/officeDocument/2006/relationships" id="264" r:id="R7848f125a94a4339"/>
    <p:sldId xmlns:r="http://schemas.openxmlformats.org/officeDocument/2006/relationships" id="265" r:id="Rc83a1c01a98c4e5b"/>
    <p:sldId xmlns:r="http://schemas.openxmlformats.org/officeDocument/2006/relationships" id="266" r:id="R24b9e79b3f1b4540"/>
    <p:sldId xmlns:r="http://schemas.openxmlformats.org/officeDocument/2006/relationships" id="267" r:id="Rdb77faf7f4e740d0"/>
    <p:sldId xmlns:r="http://schemas.openxmlformats.org/officeDocument/2006/relationships" id="268" r:id="R389690f8c77a43fe"/>
    <p:sldId xmlns:r="http://schemas.openxmlformats.org/officeDocument/2006/relationships" id="269" r:id="R7bb310217b2343cf"/>
    <p:sldId xmlns:r="http://schemas.openxmlformats.org/officeDocument/2006/relationships" id="270" r:id="Rbecc5acbd4cf4737"/>
    <p:sldId xmlns:r="http://schemas.openxmlformats.org/officeDocument/2006/relationships" id="271" r:id="R75bd87dbdeb849fc"/>
    <p:sldId xmlns:r="http://schemas.openxmlformats.org/officeDocument/2006/relationships" id="272" r:id="R6b82edcd2c4148a0"/>
    <p:sldId xmlns:r="http://schemas.openxmlformats.org/officeDocument/2006/relationships" id="273" r:id="Rd679865665d84e6e"/>
    <p:sldId xmlns:r="http://schemas.openxmlformats.org/officeDocument/2006/relationships" id="274" r:id="R5dc2213141644327"/>
    <p:sldId xmlns:r="http://schemas.openxmlformats.org/officeDocument/2006/relationships" id="275" r:id="Ra4a37a8185ab4ed9"/>
    <p:sldId xmlns:r="http://schemas.openxmlformats.org/officeDocument/2006/relationships" id="276" r:id="R73080c8f4d714c04"/>
    <p:sldId xmlns:r="http://schemas.openxmlformats.org/officeDocument/2006/relationships" id="277" r:id="R7d5534dd3d43474c"/>
    <p:sldId xmlns:r="http://schemas.openxmlformats.org/officeDocument/2006/relationships" id="278" r:id="R471c3afaa6384c77"/>
    <p:sldId xmlns:r="http://schemas.openxmlformats.org/officeDocument/2006/relationships" id="279" r:id="Rb8ee3a90117143ec"/>
    <p:sldId xmlns:r="http://schemas.openxmlformats.org/officeDocument/2006/relationships" id="280" r:id="R18031a6670d047bc"/>
    <p:sldId xmlns:r="http://schemas.openxmlformats.org/officeDocument/2006/relationships" id="281" r:id="R8dd9536c782f434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1cd719a9d14159" /><Relationship Type="http://schemas.openxmlformats.org/officeDocument/2006/relationships/slideMaster" Target="/ppt/slideMasters/slideMaster1.xml" Id="R76ce911151874d3c" /><Relationship Type="http://schemas.openxmlformats.org/officeDocument/2006/relationships/notesMaster" Target="/ppt/notesMasters/notesMaster1.xml" Id="R451afce2967d4a76" /><Relationship Type="http://schemas.openxmlformats.org/officeDocument/2006/relationships/presProps" Target="/ppt/presProps.xml" Id="Rd134964173794c4a" /><Relationship Type="http://schemas.openxmlformats.org/officeDocument/2006/relationships/tableStyles" Target="/ppt/tableStyles.xml" Id="R2b70b2d8b2a544de" /><Relationship Type="http://schemas.openxmlformats.org/officeDocument/2006/relationships/slide" Target="/ppt/slides/slide1.xml" Id="R8e5eaa5e44bb4c89" /><Relationship Type="http://schemas.openxmlformats.org/officeDocument/2006/relationships/slide" Target="/ppt/slides/slide2.xml" Id="Rf8abc9793ce14ae4" /><Relationship Type="http://schemas.openxmlformats.org/officeDocument/2006/relationships/slide" Target="/ppt/slides/slide3.xml" Id="R741dbfbedd514dd1" /><Relationship Type="http://schemas.openxmlformats.org/officeDocument/2006/relationships/slide" Target="/ppt/slides/slide4.xml" Id="Rb13450a8f8d64f87" /><Relationship Type="http://schemas.openxmlformats.org/officeDocument/2006/relationships/slide" Target="/ppt/slides/slide5.xml" Id="Rdc16a61cfed04369" /><Relationship Type="http://schemas.openxmlformats.org/officeDocument/2006/relationships/slide" Target="/ppt/slides/slide6.xml" Id="Re6ff483befac4366" /><Relationship Type="http://schemas.openxmlformats.org/officeDocument/2006/relationships/slide" Target="/ppt/slides/slide7.xml" Id="Rf3c338b93fa14350" /><Relationship Type="http://schemas.openxmlformats.org/officeDocument/2006/relationships/slide" Target="/ppt/slides/slide8.xml" Id="R226511f505004f1a" /><Relationship Type="http://schemas.openxmlformats.org/officeDocument/2006/relationships/slide" Target="/ppt/slides/slide9.xml" Id="R7848f125a94a4339" /><Relationship Type="http://schemas.openxmlformats.org/officeDocument/2006/relationships/slide" Target="/ppt/slides/slide10.xml" Id="Rc83a1c01a98c4e5b" /><Relationship Type="http://schemas.openxmlformats.org/officeDocument/2006/relationships/slide" Target="/ppt/slides/slide11.xml" Id="R24b9e79b3f1b4540" /><Relationship Type="http://schemas.openxmlformats.org/officeDocument/2006/relationships/slide" Target="/ppt/slides/slide12.xml" Id="Rdb77faf7f4e740d0" /><Relationship Type="http://schemas.openxmlformats.org/officeDocument/2006/relationships/slide" Target="/ppt/slides/slide13.xml" Id="R389690f8c77a43fe" /><Relationship Type="http://schemas.openxmlformats.org/officeDocument/2006/relationships/slide" Target="/ppt/slides/slide14.xml" Id="R7bb310217b2343cf" /><Relationship Type="http://schemas.openxmlformats.org/officeDocument/2006/relationships/slide" Target="/ppt/slides/slide15.xml" Id="Rbecc5acbd4cf4737" /><Relationship Type="http://schemas.openxmlformats.org/officeDocument/2006/relationships/slide" Target="/ppt/slides/slide16.xml" Id="R75bd87dbdeb849fc" /><Relationship Type="http://schemas.openxmlformats.org/officeDocument/2006/relationships/slide" Target="/ppt/slides/slide17.xml" Id="R6b82edcd2c4148a0" /><Relationship Type="http://schemas.openxmlformats.org/officeDocument/2006/relationships/slide" Target="/ppt/slides/slide18.xml" Id="Rd679865665d84e6e" /><Relationship Type="http://schemas.openxmlformats.org/officeDocument/2006/relationships/slide" Target="/ppt/slides/slide19.xml" Id="R5dc2213141644327" /><Relationship Type="http://schemas.openxmlformats.org/officeDocument/2006/relationships/slide" Target="/ppt/slides/slide20.xml" Id="Ra4a37a8185ab4ed9" /><Relationship Type="http://schemas.openxmlformats.org/officeDocument/2006/relationships/slide" Target="/ppt/slides/slide21.xml" Id="R73080c8f4d714c04" /><Relationship Type="http://schemas.openxmlformats.org/officeDocument/2006/relationships/slide" Target="/ppt/slides/slide22.xml" Id="R7d5534dd3d43474c" /><Relationship Type="http://schemas.openxmlformats.org/officeDocument/2006/relationships/slide" Target="/ppt/slides/slide23.xml" Id="R471c3afaa6384c77" /><Relationship Type="http://schemas.openxmlformats.org/officeDocument/2006/relationships/slide" Target="/ppt/slides/slide24.xml" Id="Rb8ee3a90117143ec" /><Relationship Type="http://schemas.openxmlformats.org/officeDocument/2006/relationships/slide" Target="/ppt/slides/slide25.xml" Id="R18031a6670d047bc" /><Relationship Type="http://schemas.openxmlformats.org/officeDocument/2006/relationships/slide" Target="/ppt/slides/slide26.xml" Id="R8dd9536c782f43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53d640a7b64c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745e977ad04422" /><Relationship Type="http://schemas.openxmlformats.org/officeDocument/2006/relationships/notesMaster" Target="/ppt/notesMasters/notesMaster1.xml" Id="R4436cdc0699449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19f9fafba34950" /><Relationship Type="http://schemas.openxmlformats.org/officeDocument/2006/relationships/notesMaster" Target="/ppt/notesMasters/notesMaster1.xml" Id="Rc15f012468724a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45bd177c4041ad" /><Relationship Type="http://schemas.openxmlformats.org/officeDocument/2006/relationships/notesMaster" Target="/ppt/notesMasters/notesMaster1.xml" Id="R7e57163180164f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93ab8a4dda4b03" /><Relationship Type="http://schemas.openxmlformats.org/officeDocument/2006/relationships/notesMaster" Target="/ppt/notesMasters/notesMaster1.xml" Id="R50367bdf3a504a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9544c3cbbe4ce9" /><Relationship Type="http://schemas.openxmlformats.org/officeDocument/2006/relationships/notesMaster" Target="/ppt/notesMasters/notesMaster1.xml" Id="R4d5f1f695ac14c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307aae17f84c6f" /><Relationship Type="http://schemas.openxmlformats.org/officeDocument/2006/relationships/notesMaster" Target="/ppt/notesMasters/notesMaster1.xml" Id="R415e3000b4ff47c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7a28b8cb6f4940" /><Relationship Type="http://schemas.openxmlformats.org/officeDocument/2006/relationships/notesMaster" Target="/ppt/notesMasters/notesMaster1.xml" Id="R33dca73ffcd5460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d7da853b9ee48c5" /><Relationship Type="http://schemas.openxmlformats.org/officeDocument/2006/relationships/notesMaster" Target="/ppt/notesMasters/notesMaster1.xml" Id="R456588f8a773440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21ca581de984f30" /><Relationship Type="http://schemas.openxmlformats.org/officeDocument/2006/relationships/notesMaster" Target="/ppt/notesMasters/notesMaster1.xml" Id="R37bc4f6be218427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28d6016c772462d" /><Relationship Type="http://schemas.openxmlformats.org/officeDocument/2006/relationships/notesMaster" Target="/ppt/notesMasters/notesMaster1.xml" Id="R0e3727f52b1c466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5c010088b734d60" /><Relationship Type="http://schemas.openxmlformats.org/officeDocument/2006/relationships/notesMaster" Target="/ppt/notesMasters/notesMaster1.xml" Id="R1220eb58cfae4f4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20c563e0a8f450a" /><Relationship Type="http://schemas.openxmlformats.org/officeDocument/2006/relationships/notesMaster" Target="/ppt/notesMasters/notesMaster1.xml" Id="R33fab3d0dc164dc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aacca6b0ff84d66" /><Relationship Type="http://schemas.openxmlformats.org/officeDocument/2006/relationships/notesMaster" Target="/ppt/notesMasters/notesMaster1.xml" Id="Re1ef964a0cfe45b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09d56c8655c4cb3" /><Relationship Type="http://schemas.openxmlformats.org/officeDocument/2006/relationships/notesMaster" Target="/ppt/notesMasters/notesMaster1.xml" Id="Rf75bed6c109a425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cac8761a90c4a22" /><Relationship Type="http://schemas.openxmlformats.org/officeDocument/2006/relationships/notesMaster" Target="/ppt/notesMasters/notesMaster1.xml" Id="Rde78a64d2fbb445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1a641943f584e5c" /><Relationship Type="http://schemas.openxmlformats.org/officeDocument/2006/relationships/notesMaster" Target="/ppt/notesMasters/notesMaster1.xml" Id="R9ac20cc0dcc0449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5200d1158354567" /><Relationship Type="http://schemas.openxmlformats.org/officeDocument/2006/relationships/notesMaster" Target="/ppt/notesMasters/notesMaster1.xml" Id="R439e43fd9fe7467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1e79f9d93984b89" /><Relationship Type="http://schemas.openxmlformats.org/officeDocument/2006/relationships/notesMaster" Target="/ppt/notesMasters/notesMaster1.xml" Id="R5e168eaa11cb481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f689522aa894632" /><Relationship Type="http://schemas.openxmlformats.org/officeDocument/2006/relationships/notesMaster" Target="/ppt/notesMasters/notesMaster1.xml" Id="R85a40956454e4ef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10c3b7a22754e56" /><Relationship Type="http://schemas.openxmlformats.org/officeDocument/2006/relationships/notesMaster" Target="/ppt/notesMasters/notesMaster1.xml" Id="R67762e603cc24fb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88f5f82cbdd4a98" /><Relationship Type="http://schemas.openxmlformats.org/officeDocument/2006/relationships/notesMaster" Target="/ppt/notesMasters/notesMaster1.xml" Id="R2168a145054142e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37358f9437f43c2" /><Relationship Type="http://schemas.openxmlformats.org/officeDocument/2006/relationships/notesMaster" Target="/ppt/notesMasters/notesMaster1.xml" Id="R1e42fa5259984be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b27bd37044c460b" /><Relationship Type="http://schemas.openxmlformats.org/officeDocument/2006/relationships/notesMaster" Target="/ppt/notesMasters/notesMaster1.xml" Id="R22e6cb2255924e2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d29aca1f7404811" /><Relationship Type="http://schemas.openxmlformats.org/officeDocument/2006/relationships/notesMaster" Target="/ppt/notesMasters/notesMaster1.xml" Id="Rb3ae7ba389144a9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9c90a51eb024608" /><Relationship Type="http://schemas.openxmlformats.org/officeDocument/2006/relationships/notesMaster" Target="/ppt/notesMasters/notesMaster1.xml" Id="R7c72b3e25ad64c5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f76be29e96247ef" /><Relationship Type="http://schemas.openxmlformats.org/officeDocument/2006/relationships/notesMaster" Target="/ppt/notesMasters/notesMaster1.xml" Id="Rc4042fde534044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The colour of the classroom walls is irrelevant; the number of scores and valid range are essential.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Starter: ask pairs to write the input, process, output and storage requirements before showing the model.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7 and Paper 2 conventions, in resources/chapters/07/syllabus.pdf. CUP second edition and Hodder Education 2021 chapter 7.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The input-validation process rejects 24.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7 and Paper 2 conventions, in resources/chapters/07/syllabus.pdf. CUP second edition and Hodder Education 2021 chapter 7.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Testing reveals the failure. Revisit the design or implementation, correct it and retest the requirement.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7 and Paper 2 conventions, in resources/chapters/07/syllabus.pdf. CUP second edition and Hodder Education 2021 chapter 7.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ReadValidScore can be called repeatedly instead of copying validation code.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Students draw a hierarchy and a flowchart for input validation. Use the linked official conventions PDF for terminal, process, input/output, decision and flow-line symbols.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7 and Paper 2 conventions, in resources/chapters/07/syllabus.pdf. CUP second edition and Hodder Education 2021 chapter 7.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Set alarm contains Turn alarm on/off.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7 and Paper 2 conventions, in resources/chapters/07/syllabus.pdf. CUP second edition and Hodder Education 2021 chapter 7. Exact source-page mappings: resources/catalog.json. Image: Hodder p.262, Figure 7.3; cropped from the supplied textbook.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Wait 30 seconds, get the time again, then repeat the comparison.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7 and Paper 2 conventions, in resources/chapters/07/syllabus.pdf. CUP second edition and Hodder Education 2021 chapter 7. Exact source-page mappings: resources/catalog.json. Image: Hodder p.262, Figure 7.4; cropped from the supplied textbook.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The comparison is true. B becomes 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7 and Paper 2 conventions, in resources/chapters/07/syllabus.pdf. CUP second edition and Hodder Education 2021 chapter 7. Exact source-page mappings: resources/catalog.json. Image: Hodder p.263, Figure 7.8; cropped from the supplied textbook.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Total = 13, Count = 3, Mean = 13 / 3. A count is not the total.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trace before revealing results.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7 and Paper 2 conventions, in resources/chapters/07/syllabus.pdf. CUP second edition and Hodder Education 2021 chapter 7.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The final total would be 2 because earlier inputs would be discarded.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7 and Paper 2 conventions, in resources/chapters/07/syllabus.pdf. CUP second edition and Hodder Education 2021 chapter 7.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If all values are negative, zero is not in the list and is incorrectly reported as the maximum.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7 and Paper 2 conventions, in resources/chapters/07/syllabus.pdf. CUP second edition and Hodder Education 2021 chapter 7.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Use Value &lt; Lowest, with Lowest initially equal to the first value.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7 and Paper 2 conventions, in resources/chapters/07/syllabus.pdf. CUP second edition and Hodder Education 2021 chapter 7.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Position 2, because the loop stops at the first match.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7 and Paper 2 conventions, in resources/chapters/07/syllabus.pdf. CUP second edition and Hodder Education 2021 chapter 7.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Five. A missing target also needs five comparisons in this 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7 and Paper 2 conventions, in resources/chapters/07/syllabus.pdf. CUP second edition and Hodder Education 2021 chapter 7.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After A becomes 2, copying A into B also gives 2. The original 7 is lost.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7 and Paper 2 conventions, in resources/chapters/07/syllabus.pdf. CUP second edition and Hodder Education 2021 chapter 7.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No. The largest value is in place, but 4, 2 and 1 still need sorting.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7 and Paper 2 conventions, in resources/chapters/07/syllabus.pdf. CUP second edition and Hodder Education 2021 chapter 7.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It confirms that there are no swaps. The loop stops using Swapped, not by looking at the 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7 and Paper 2 conventions, in resources/chapters/07/syllabus.pdf. CUP second edition and Hodder Education 2021 chapter 7.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[4, 2, 1, 7]. One pass does not necessarily sort the entire 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7 and Paper 2 conventions, in resources/chapters/07/syllabus.pdf. CUP second edition and Hodder Education 2021 chapter 7.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No. A range check tests acceptability, not whether the value matches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 check digit cannot guarantee error-free entry; discuss its limits.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7 and Paper 2 conventions, in resources/chapters/07/syllabus.pdf. CUP second edition and Hodder Education 2021 chapter 7.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Presence and length. Add a format check if letters and digits must follow a specific pattern.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7 and Paper 2 conventions, in resources/chapters/07/syllabus.pdf. CUP second edition and Hodder Education 2021 chapter 7.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No. A different valid identifier may still pass the rule.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This simple sum rule is an original teaching example. It is not the ISBN or payment-card algorithm.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7 and Paper 2 conventions, in resources/chapters/07/syllabus.pdf. CUP second edition and Hodder Education 2021 chapter 7.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The entries agree with each other. Agreement does not establish that either matches the intended value.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7 and Paper 2 conventions, in resources/chapters/07/syllabus.pdf. CUP second edition and Hodder Education 2021 chapter 7.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Extreme data are the accepted limits. Boundary data also include the neighbouring rejected values.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7 and Paper 2 conventions, in resources/chapters/07/syllabus.pdf. CUP second edition and Hodder Education 2021 chapter 7.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A strict &lt; 20 may have replaced &lt;= 20.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7 and Paper 2 conventions, in resources/chapters/07/syllabus.pdf. CUP second edition and Hodder Education 2021 chapter 7.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Use Score &lt; 0 OR Score &gt; 20. A number cannot be below 0 AND above 20 simultaneously.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Exit task: write a complete five-score algorithm with validation, total, highest and mean. Compare against the downloadable teacher solution. Homework: Hodder chapter 7 workbook, then PMT 7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7 and Paper 2 conventions, in resources/chapters/07/syllabus.pdf. CUP second edition and Hodder Education 2021 chapter 7.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Reject 21. The five valid scores total 20, the mean is 4 and the maximum is 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Allow 8–10 minutes. Ask students to annotate their validation loop and accumulator initialisation. Use the next slide to discuss a possible solution.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7 and Paper 2 conventions, in resources/chapters/07/syllabus.pdf. CUP second edition and Hodder Education 2021 chapter 7.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REPEAT continues inside the current FOR iteration until the value is valid.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7 and Paper 2 conventions, in resources/chapters/07/syllabus.pdf. CUP second edition and Hodder Education 2021 chapter 7.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33428b62cc4c0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d9562150a041b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e5abdf4e6e4c1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b0164bf909413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71c6151fa44fe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1e9de7d02449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DB88201-DCA5-4D92-81C7-CB985A7558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22F107E-E6E0-4674-B08B-5A9F8FD931A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E4E044F-2844-44A5-8689-E54530096E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9F0D2F7-B71D-41BF-88D3-BCC0C0D453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EAE1065-BF4C-4B5E-973D-09D32DA9BF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10EB78C-63C0-4CA8-884D-D85E8DE830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876255A-6455-4B8C-A41C-696EA9AD86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E3FEBD5-A1C1-4D2D-B85B-7EA691E0F93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A27B6E1-64A3-4288-AB30-DD2ECE623D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24C0EDD-987B-4993-9EA0-1E50707777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4ca4b35c8e4c2d" /><Relationship Type="http://schemas.openxmlformats.org/officeDocument/2006/relationships/slideLayout" Target="/ppt/slideLayouts/slideLayout1.xml" Id="R320530c33226474a" /><Relationship Type="http://schemas.openxmlformats.org/officeDocument/2006/relationships/slideLayout" Target="/ppt/slideLayouts/slideLayout2.xml" Id="Ra3d3efd9b2494fd3" /><Relationship Type="http://schemas.openxmlformats.org/officeDocument/2006/relationships/slideLayout" Target="/ppt/slideLayouts/slideLayout3.xml" Id="Rf708cbf567c74f88" /><Relationship Type="http://schemas.openxmlformats.org/officeDocument/2006/relationships/slideLayout" Target="/ppt/slideLayouts/slideLayout4.xml" Id="R26b0eae96a1148ab" /><Relationship Type="http://schemas.openxmlformats.org/officeDocument/2006/relationships/slideLayout" Target="/ppt/slideLayouts/slideLayout5.xml" Id="Rcee80bc7af51435f" /><Relationship Type="http://schemas.openxmlformats.org/officeDocument/2006/relationships/slideLayout" Target="/ppt/slideLayouts/slideLayout6.xml" Id="Rb5d92f6b4c2f48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0530c33226474a"/>
    <p:sldLayoutId xmlns:r="http://schemas.openxmlformats.org/officeDocument/2006/relationships" id="2147483650" r:id="Ra3d3efd9b2494fd3"/>
    <p:sldLayoutId xmlns:r="http://schemas.openxmlformats.org/officeDocument/2006/relationships" id="2147483651" r:id="Rf708cbf567c74f88"/>
    <p:sldLayoutId xmlns:r="http://schemas.openxmlformats.org/officeDocument/2006/relationships" id="2147483652" r:id="R26b0eae96a1148ab"/>
    <p:sldLayoutId xmlns:r="http://schemas.openxmlformats.org/officeDocument/2006/relationships" id="2147483653" r:id="Rcee80bc7af51435f"/>
    <p:sldLayoutId xmlns:r="http://schemas.openxmlformats.org/officeDocument/2006/relationships" id="2147483654" r:id="Rb5d92f6b4c2f48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988afaf23843bb" /><Relationship Type="http://schemas.openxmlformats.org/officeDocument/2006/relationships/notesSlide" Target="/ppt/notesSlides/notesSlide1.xml" Id="R8da844a6fb4b4c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2fb12b39a542f3" /><Relationship Type="http://schemas.openxmlformats.org/officeDocument/2006/relationships/notesSlide" Target="/ppt/notesSlides/notesSlide2.xml" Id="R7d466b6ff4de42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3683aa5ebb4643" /><Relationship Type="http://schemas.openxmlformats.org/officeDocument/2006/relationships/notesSlide" Target="/ppt/notesSlides/notesSlide3.xml" Id="R5a66ecfc81f341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c2c0713f99462f" /><Relationship Type="http://schemas.openxmlformats.org/officeDocument/2006/relationships/notesSlide" Target="/ppt/notesSlides/notesSlide4.xml" Id="R72913ccf09bf42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3e3c06f8d94c5f" /><Relationship Type="http://schemas.openxmlformats.org/officeDocument/2006/relationships/image" Target="/ppt/media/image.png" Id="R8241b39fa3604a51" /><Relationship Type="http://schemas.openxmlformats.org/officeDocument/2006/relationships/notesSlide" Target="/ppt/notesSlides/notesSlide5.xml" Id="R5e67772f3c194c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8dc1dff2ae4d0e" /><Relationship Type="http://schemas.openxmlformats.org/officeDocument/2006/relationships/image" Target="/ppt/media/image2.png" Id="R2cd7a40aafcf4e9e" /><Relationship Type="http://schemas.openxmlformats.org/officeDocument/2006/relationships/notesSlide" Target="/ppt/notesSlides/notesSlide6.xml" Id="Ref4d8a6ebbf142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5e12f29b3448ad" /><Relationship Type="http://schemas.openxmlformats.org/officeDocument/2006/relationships/image" Target="/ppt/media/image3.png" Id="R1026b258a1214ccf" /><Relationship Type="http://schemas.openxmlformats.org/officeDocument/2006/relationships/notesSlide" Target="/ppt/notesSlides/notesSlide7.xml" Id="Rf33c1074575246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21d57e33d94042" /><Relationship Type="http://schemas.openxmlformats.org/officeDocument/2006/relationships/notesSlide" Target="/ppt/notesSlides/notesSlide8.xml" Id="Rb6106e9683fb423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48a6a399de4061" /><Relationship Type="http://schemas.openxmlformats.org/officeDocument/2006/relationships/notesSlide" Target="/ppt/notesSlides/notesSlide9.xml" Id="Rfd03121fa95e4c3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22d33d20c44f43" /><Relationship Type="http://schemas.openxmlformats.org/officeDocument/2006/relationships/notesSlide" Target="/ppt/notesSlides/notesSlide10.xml" Id="R94f14f35676b401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a5ada2aae94802" /><Relationship Type="http://schemas.openxmlformats.org/officeDocument/2006/relationships/notesSlide" Target="/ppt/notesSlides/notesSlide11.xml" Id="Rb219c078a6b0447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9e1bf8f1a54082" /><Relationship Type="http://schemas.openxmlformats.org/officeDocument/2006/relationships/notesSlide" Target="/ppt/notesSlides/notesSlide12.xml" Id="Rc7fe207055484b9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9a7207ec4f4b1a" /><Relationship Type="http://schemas.openxmlformats.org/officeDocument/2006/relationships/notesSlide" Target="/ppt/notesSlides/notesSlide13.xml" Id="Raf29b428dbbc4dc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64bd4479eb4171" /><Relationship Type="http://schemas.openxmlformats.org/officeDocument/2006/relationships/notesSlide" Target="/ppt/notesSlides/notesSlide14.xml" Id="R1c23c4ce065045b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5cac542ca34ee6" /><Relationship Type="http://schemas.openxmlformats.org/officeDocument/2006/relationships/notesSlide" Target="/ppt/notesSlides/notesSlide15.xml" Id="R0f85cc5515b847f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f746cdce4a408b" /><Relationship Type="http://schemas.openxmlformats.org/officeDocument/2006/relationships/notesSlide" Target="/ppt/notesSlides/notesSlide16.xml" Id="Rf0a7d335883d4bc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57be4bf4114f34" /><Relationship Type="http://schemas.openxmlformats.org/officeDocument/2006/relationships/notesSlide" Target="/ppt/notesSlides/notesSlide17.xml" Id="R09c095b732714e8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87044acf4c4ffe" /><Relationship Type="http://schemas.openxmlformats.org/officeDocument/2006/relationships/notesSlide" Target="/ppt/notesSlides/notesSlide18.xml" Id="R9af996989fea4de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2ae77a260445f8" /><Relationship Type="http://schemas.openxmlformats.org/officeDocument/2006/relationships/notesSlide" Target="/ppt/notesSlides/notesSlide19.xml" Id="Rc38e30fdf763484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59050abe694f14" /><Relationship Type="http://schemas.openxmlformats.org/officeDocument/2006/relationships/notesSlide" Target="/ppt/notesSlides/notesSlide20.xml" Id="R6cf946a58bce4f8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5b032eced544c7" /><Relationship Type="http://schemas.openxmlformats.org/officeDocument/2006/relationships/notesSlide" Target="/ppt/notesSlides/notesSlide21.xml" Id="Re207b7c602b0436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3e8660bb204175" /><Relationship Type="http://schemas.openxmlformats.org/officeDocument/2006/relationships/notesSlide" Target="/ppt/notesSlides/notesSlide22.xml" Id="Ra2598f8c3b674a5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16fa1e8cc541ee" /><Relationship Type="http://schemas.openxmlformats.org/officeDocument/2006/relationships/notesSlide" Target="/ppt/notesSlides/notesSlide23.xml" Id="R2f842395d7914a1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89454e74594296" /><Relationship Type="http://schemas.openxmlformats.org/officeDocument/2006/relationships/notesSlide" Target="/ppt/notesSlides/notesSlide24.xml" Id="Rd87e91eea6f94ca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07f7ac2a8c4aae" /><Relationship Type="http://schemas.openxmlformats.org/officeDocument/2006/relationships/notesSlide" Target="/ppt/notesSlides/notesSlide25.xml" Id="Ra638ae68d3c6452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ee22f7a84c43c6" /><Relationship Type="http://schemas.openxmlformats.org/officeDocument/2006/relationships/notesSlide" Target="/ppt/notesSlides/notesSlide26.xml" Id="R9d95bcdffbc141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2A650C-8243-436F-9522-7D98EFA0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rPr>
              <a:t>CHAPTER 7   7.1 ·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96FBD0-0BD0-4B7C-87DB-04D53AAA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The quiz-score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A4031D-BA95-4C9C-84FA-08F2D036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6F4F20-ECEB-4CA0-9739-7A814FD1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619250"/>
            <a:ext cx="9810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A school records five quiz scores, each from 0 to 20.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B33213-FD7C-42D9-A269-75E253C7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FC9E8B-3AE9-4722-A189-BA4ECDCE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19400"/>
            <a:ext cx="9810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Input: five valid scores. Process: total, mean and highest.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F1FA44-1ACE-480C-80DE-A40FB5D3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4D87B8-B68D-46D3-A9F1-1C943D5D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019550"/>
            <a:ext cx="9810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Output: the mean and highest score. Store results if they must survive closing the program.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8D1CE9-228F-4270-9A3F-A4F81BA2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rPr>
              <a:t>CHECK  Which details could you abstract away?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F6AE55-C0D2-4F5E-AF62-3516CADD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534090-5673-4678-ACF2-E0F416AF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1 / 26</a:t>
            </a:r>
          </a:p>
        </p:txBody>
      </p:sp>
    </p:spTree>
    <p:extLst>
      <p:ext uri="{BB962C8B-B14F-4D97-AF65-F5344CB8AC3E}">
        <p14:creationId xmlns:p14="http://schemas.microsoft.com/office/powerpoint/2010/main" val="9031886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463AB1-B5F7-4157-B68B-0E8FDE24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rPr>
              <a:t>CHAPTER 7   7.1 · Requirements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BC6DCE-7E70-407B-918D-1CB2F2EF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Inputs, processes, outputs and storage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44957F-4980-4A8B-8D57-31871093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Five scores must lie between 0 and 20.</a:t>
            </a:r>
          </a:p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Saving the result is a separate requirement from displaying it.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698683-DCCD-4657-8BE4-1594083E2AF5}"/>
              </a:ext>
            </a:extLst>
          </p:cNvPr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09728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69277"/>
                <a:gridCol w="6303523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5042A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Quiz-score system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5042A4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Input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Five integer scores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Process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Validate, total, divide, find highest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Output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Mean and highest score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Storage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Saved summary for the next session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348E77-579E-4159-8661-08EE0C53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rPr>
              <a:t>CHECK  Which part checks that 24 is unacceptable?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0BF2B1-C660-4BA7-BF10-88CB8C5D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9239F6-E348-49BC-93C5-804AAC16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2 / 26</a:t>
            </a:r>
          </a:p>
        </p:txBody>
      </p:sp>
    </p:spTree>
    <p:extLst>
      <p:ext uri="{BB962C8B-B14F-4D97-AF65-F5344CB8AC3E}">
        <p14:creationId xmlns:p14="http://schemas.microsoft.com/office/powerpoint/2010/main" val="10749172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C29A4E-0B91-4533-B594-5976EE11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rPr>
              <a:t>CHAPTER 7   7.1 · Life 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393E06-5966-41A9-BD8B-730DE9EC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The development life 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7E4C57-F91A-4811-BFA0-F2D0BC05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32E79B-C9B1-4B0D-BC07-BB1B4BCE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619250"/>
            <a:ext cx="9810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Analysis defines requirements using abstraction and decomposition.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61D331-AA8C-4701-9988-46DC24C3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C8ABDA-26DE-4CF9-8480-6D2D2686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19400"/>
            <a:ext cx="9810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Design uses structure diagrams, flowcharts and pseudocode.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77AE87-9B15-4429-938E-27FDD04A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BCC553-6CE6-4309-BA42-E8CDDBF1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019550"/>
            <a:ext cx="9810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Coding implements and tests components; testing checks the completed solution against requirements.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B53D4E-13B0-4571-985E-0A75967B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rPr>
              <a:t>CHECK  A correct-looking program fails when the input is 20. Which stage needs revisiting?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E2AAA7-171D-4235-8A4E-651BF81A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4FD789-3FBF-4885-91F6-CCB88F6A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3 / 26</a:t>
            </a:r>
          </a:p>
        </p:txBody>
      </p:sp>
    </p:spTree>
    <p:extLst>
      <p:ext uri="{BB962C8B-B14F-4D97-AF65-F5344CB8AC3E}">
        <p14:creationId xmlns:p14="http://schemas.microsoft.com/office/powerpoint/2010/main" val="12343217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273308-9932-4B06-AE55-A99587AF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rPr>
              <a:t>CHAPTER 7   7.2 ·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7E0066-670D-471E-A97F-B6C78E6B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Decomposition and design methods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413251-E97E-4BAF-AD31-9AD3C1AB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Main task: process a set of quiz scores.</a:t>
            </a:r>
          </a:p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Sub-tasks: read a valid score; calculate statistics; display results.</a:t>
            </a:r>
          </a:p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A structure diagram shows the hierarchy. A flowchart shows execution order and decisions.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A6005E-9949-43B6-9B74-28B972561EA5}"/>
              </a:ext>
            </a:extLst>
          </p:cNvPr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0972800" cy="1905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69277"/>
                <a:gridCol w="6303523"/>
              </a:tblGrid>
              <a:tr h="476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Representation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5042A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it communicates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5042A4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Structure diagram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Main task → smaller sub-tasks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Flowchart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Sequence, decisions and repetition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Pseudocode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Precise language-independent steps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D1BAC7-B57F-4658-81A9-2DFCE19F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rPr>
              <a:t>CHECK  Which sub-task could be reused for each of five scores?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27FE18-469B-4CB2-9922-9B5F512E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D44C83-5105-4B5B-9A82-EA09D2F7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4 / 26</a:t>
            </a:r>
          </a:p>
        </p:txBody>
      </p:sp>
    </p:spTree>
    <p:extLst>
      <p:ext uri="{BB962C8B-B14F-4D97-AF65-F5344CB8AC3E}">
        <p14:creationId xmlns:p14="http://schemas.microsoft.com/office/powerpoint/2010/main" val="6203152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9BB698-69E4-428C-A877-8B1902D8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rPr>
              <a:t>CHAPTER 7   7.2 · Structure diagrams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A6D2D2-026B-41DE-A23E-92C4D133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A structure diagram shows the parts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7F7E29-4D53-4CCD-87E4-900F7C1F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The root names the complete system.</a:t>
            </a:r>
          </a:p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Each lower level breaks a task into smaller tasks.</a:t>
            </a:r>
          </a:p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Branches describe responsibility, not execution order.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562CF8-6915-412B-B7F2-28A5A6D0B9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41b39fa3604a51"/>
          <a:stretch xmlns:a="http://schemas.openxmlformats.org/drawingml/2006/main"/>
        </p:blipFill>
        <p:spPr>
          <a:xfrm xmlns:a="http://schemas.openxmlformats.org/drawingml/2006/main">
            <a:off x="1543610" y="2476500"/>
            <a:ext cx="9104779" cy="30956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8E8C65-2E55-456F-8257-9614E361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Hodder p.262, Figure 7.3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553884-3783-4BEE-8C6C-C51A6A46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rPr>
              <a:t>CHECK  Which branch handles switching the alarm on?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D5723D-33B1-4C89-8FD5-CD96B228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AC7E96-AC8E-4E90-8182-929A1449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5 / 26</a:t>
            </a:r>
          </a:p>
        </p:txBody>
      </p:sp>
    </p:spTree>
    <p:extLst>
      <p:ext uri="{BB962C8B-B14F-4D97-AF65-F5344CB8AC3E}">
        <p14:creationId xmlns:p14="http://schemas.microsoft.com/office/powerpoint/2010/main" val="9809240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F25D6C-C0F3-4B9E-9F32-5E9467EB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rPr>
              <a:t>CHAPTER 7   7.2 · Flowcharts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B67E5C-C5AB-4F19-B77A-12B294F7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A flowchart shows the next step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142263-C8D6-4C67-8A5B-29A44F60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3857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Follow the arrows from START.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AFE08A-692E-42AD-8804-D4EEA02C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857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A decision selects a labelled branch.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BE9607-D3C7-46B5-9392-032BF52D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3857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Here, No waits and checks again. Yes sounds the alarm.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477152-95F2-4FD8-AE7A-FACC3D5D2F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d7a40aafcf4e9e"/>
          <a:stretch xmlns:a="http://schemas.openxmlformats.org/drawingml/2006/main"/>
        </p:blipFill>
        <p:spPr>
          <a:xfrm xmlns:a="http://schemas.openxmlformats.org/drawingml/2006/main">
            <a:off x="6640751" y="1619250"/>
            <a:ext cx="3253899" cy="3790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228889-034B-41CA-8FF3-4208C160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00700"/>
            <a:ext cx="662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Hodder p.262, Figure 7.4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085DEC-73D1-40C8-B9F5-FFD724F0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rPr>
              <a:t>CHECK  What happens when the current time does not match?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DF5B28-9560-4370-944E-70E4E844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B0FA2D-A544-45E0-9F67-F717B244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6 / 26</a:t>
            </a:r>
          </a:p>
        </p:txBody>
      </p:sp>
    </p:spTree>
    <p:extLst>
      <p:ext uri="{BB962C8B-B14F-4D97-AF65-F5344CB8AC3E}">
        <p14:creationId xmlns:p14="http://schemas.microsoft.com/office/powerpoint/2010/main" val="15609962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CE4CB4-E809-4022-AB04-85D11E30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rPr>
              <a:t>CHAPTER 7   7.2 · Flowchart tracing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6BE186-F362-4B79-9174-DEC6D2FA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Decision symbols and assignments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5216A4-9989-4327-8493-3A4FA82B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3857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The diamond contains a condition.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346891-1E97-4C05-AD40-26F608D3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857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Yes and No must lead to the correct next instruction.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F1584A-663A-4144-A8A5-3E0ED4F3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3857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The rectangle changes the stored value.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C56049-EFF2-401B-A575-6E4DF4F90D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26b258a1214ccf"/>
          <a:stretch xmlns:a="http://schemas.openxmlformats.org/drawingml/2006/main"/>
        </p:blipFill>
        <p:spPr>
          <a:xfrm xmlns:a="http://schemas.openxmlformats.org/drawingml/2006/main">
            <a:off x="4953000" y="2522157"/>
            <a:ext cx="6629400" cy="198513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19CDDD-92B5-4CF3-BB7E-D834F9DC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00700"/>
            <a:ext cx="662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Hodder p.263, Figure 7.8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93E126-402A-49ED-89A6-4D76C7A3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rPr>
              <a:t>CHECK  Trace the diagram for X = 9 and B = 6.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A0CA23-6E5B-4548-AE7E-D1321415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16B215-042A-44A5-85F4-613F7EF7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7 / 26</a:t>
            </a:r>
          </a:p>
        </p:txBody>
      </p:sp>
    </p:spTree>
    <p:extLst>
      <p:ext uri="{BB962C8B-B14F-4D97-AF65-F5344CB8AC3E}">
        <p14:creationId xmlns:p14="http://schemas.microsoft.com/office/powerpoint/2010/main" val="5811897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846E5F-F70E-4EB0-8074-D5A2A421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rPr>
              <a:t>CHAPTER 7   7.4 · Standard algorithms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BA2D47-9B4B-4F44-A209-679305EF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Totalling, counting and averaging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0627BD-3561-478D-85D8-A17F2845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Initialise the accumulator before the loop.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4F1951-B8AB-4357-A993-8F0F71DD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Count records by adding 1; total values by adding the value.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4F7AA6-5EF4-4772-86A5-8492E98C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Divide only when the count is greater than zero.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078C95-7053-4E05-BC1D-F87C733D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81150"/>
            <a:ext cx="7115175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Total ← 0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Count ← 0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FOR Index ← 1 TO 3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    INPUT Score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    Total ← Total + Score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    Count ← Count + 1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NEXT Index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OUTPUT Total / Count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0D1B26-723F-4622-83BB-26890E01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rPr>
              <a:t>CHECK  For inputs 4, 7, 2, what is the final mean?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92E4DB-309B-400E-B505-9AC73FD4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6490ED-49C5-4B58-81BA-C87976FD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8 / 26</a:t>
            </a:r>
          </a:p>
        </p:txBody>
      </p:sp>
    </p:spTree>
    <p:extLst>
      <p:ext uri="{BB962C8B-B14F-4D97-AF65-F5344CB8AC3E}">
        <p14:creationId xmlns:p14="http://schemas.microsoft.com/office/powerpoint/2010/main" val="18298112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598571-A517-43AF-A9ED-E39338B4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rPr>
              <a:t>CHAPTER 7   7.7 · Trace tables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2927B4-F2A8-4CE9-861B-CA841335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A complete accumulator trace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6EEFF8-6B34-4D93-9433-C614AD2E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Follow the algorithm exactly, including errors.</a:t>
            </a:r>
          </a:p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Record variable changes, prompts and output in execution order.</a:t>
            </a:r>
          </a:p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Do not silently repair code while tracing it.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661B6F-99A1-4AA3-81D0-3E345EDB18FB}"/>
              </a:ext>
            </a:extLst>
          </p:cNvPr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0972800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05352"/>
                <a:gridCol w="1891862"/>
                <a:gridCol w="1891862"/>
                <a:gridCol w="1891862"/>
                <a:gridCol w="1891862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Step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5042A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Score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5042A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Total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5042A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Count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5042A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Output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5042A4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Initialise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Iteration 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Iteration 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Iteration 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After loop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 / 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C6C09C-45B1-441F-953C-E4B094CF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rPr>
              <a:t>CHECK  What would change if Total were reset inside the loop?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CDE52E-F9FC-4F31-A1D4-BB16F22C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FCBE30-1EED-486C-BCD7-93947FC4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9 / 26</a:t>
            </a:r>
          </a:p>
        </p:txBody>
      </p:sp>
    </p:spTree>
    <p:extLst>
      <p:ext uri="{BB962C8B-B14F-4D97-AF65-F5344CB8AC3E}">
        <p14:creationId xmlns:p14="http://schemas.microsoft.com/office/powerpoint/2010/main" val="9528813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42DFC8-8700-4F04-9F0C-BC1F0F8E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rPr>
              <a:t>CHAPTER 7   7.4 · Maximum and minimum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4A122B-C4D1-4D77-B96A-433B7A5F6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Maximum and minimum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9DCCCD-4777-4A66-984B-200F2F9CE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Initialise Highest from the first item in a non-empty array.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9D53D9-581B-429D-B6FF-8A14BD67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Compare each remaining item with the current highest.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DD0703-BC15-481B-9BEB-629F3FB3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For a minimum, change the comparison to &lt;.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B9D5D1-9B9C-4DC2-AD17-A5038115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81150"/>
            <a:ext cx="7115175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Highest ← Scores[1]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FOR Index ← 2 TO 5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    IF Scores[Index] &gt; Highest THEN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        Highest ← Scores[Index]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    ENDIF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NEXT Index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OUTPUT Highest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3029C6-D159-4D29-B5CC-013C8950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rPr>
              <a:t>CHECK  Why is Highest ← 0 unsafe for arbitrary data?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D9F176-EDA5-4751-A4B2-0C1D7F57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1F5F99-290E-4288-95DD-94B83551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10 / 26</a:t>
            </a:r>
          </a:p>
        </p:txBody>
      </p:sp>
    </p:spTree>
    <p:extLst>
      <p:ext uri="{BB962C8B-B14F-4D97-AF65-F5344CB8AC3E}">
        <p14:creationId xmlns:p14="http://schemas.microsoft.com/office/powerpoint/2010/main" val="19854702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AFD2EC-F64A-401B-AF0D-B5556390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rPr>
              <a:t>CHAPTER 7   7.4 · Maximum trace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3F00CA-6A30-427F-9074-B4EAE847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Maximum: a worked trace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B4A7DA-C17A-4AED-B6CA-BE11981E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Start with the first value, even when it is negative.</a:t>
            </a:r>
          </a:p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Replace Highest only when a larger value appears.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3C9DC3-8592-42C0-AF3D-7EBDA795AC4B}"/>
              </a:ext>
            </a:extLst>
          </p:cNvPr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09728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3962400"/>
                <a:gridCol w="39624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Step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5042A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Value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5042A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Highest after step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5042A4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Initial value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Compare next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Compare next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−11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Compare next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15A07B-47A6-4208-9980-B5FE408A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rPr>
              <a:t>CHECK  What comparison would find the minimum?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EF63F7-029B-458C-9737-1ACDB3AC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E9169B-AC76-4D10-A786-1C5C9ECD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11 / 26</a:t>
            </a:r>
          </a:p>
        </p:txBody>
      </p:sp>
    </p:spTree>
    <p:extLst>
      <p:ext uri="{BB962C8B-B14F-4D97-AF65-F5344CB8AC3E}">
        <p14:creationId xmlns:p14="http://schemas.microsoft.com/office/powerpoint/2010/main" val="20805466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38D031-93C3-40F9-BF01-1ED15538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rPr>
              <a:t>CHAPTER 7   7.4 · Linear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074865-86BF-4EB0-94D9-CB83A9D6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Linear search pseudocode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6C9372-1918-4CDA-8ED0-AAEB66A7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Compare the target with one element at a time.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359DAA-E505-48D7-8639-FAA07E50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Stop when a match is found or the list is exhausted.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5FBFDD-425F-4DBB-8997-70E321FF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This version records the first matching position, or 0 for not found.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B911E7-E985-4C66-B1D2-70019CAD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81150"/>
            <a:ext cx="7115175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Position ← 0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Index ← 1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WHILE Index &lt;= 5 AND Position = 0 DO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    IF Scores[Index] = Target THEN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        Position ← Index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    ENDIF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    Index ← Index + 1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ENDWHILE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6837F2-A835-4E6D-9D1F-D13C51FA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rPr>
              <a:t>CHECK  For [4, 7, 2, 7, 9], searching for 7 returns what?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3B17B2-DEBC-4806-B2CD-E8E21F6A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A2F38F-5E34-4EDD-8FC1-216397E3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12 / 26</a:t>
            </a:r>
          </a:p>
        </p:txBody>
      </p:sp>
    </p:spTree>
    <p:extLst>
      <p:ext uri="{BB962C8B-B14F-4D97-AF65-F5344CB8AC3E}">
        <p14:creationId xmlns:p14="http://schemas.microsoft.com/office/powerpoint/2010/main" val="21330139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8010D3-AEBF-4B4A-9CA1-33B00E67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rPr>
              <a:t>CHAPTER 7   7.4 · Search trace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2BE52E-53E4-4F49-9BEC-A16FE97F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Linear search: found and not found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AEF9EB-F5F5-47A4-882C-B80A675A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Data: [4, 7, 2, 7, 9]. Indexing starts at 1.</a:t>
            </a:r>
          </a:p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The first matching index is the result.</a:t>
            </a:r>
          </a:p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If every comparison fails, Position remains 0.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67CD59-5B83-41AC-9CD9-1E1CAB987CF8}"/>
              </a:ext>
            </a:extLst>
          </p:cNvPr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0972800" cy="1905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3962400"/>
                <a:gridCol w="3962400"/>
              </a:tblGrid>
              <a:tr h="476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Target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5042A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Indexes checked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5042A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Result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5042A4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1, 2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Position = 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1, 2, 3, 4, 5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Position = 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1, 2, 3, 4, 5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Position = 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C8A86D-254D-4CD4-B43F-FC4B7FDF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rPr>
              <a:t>CHECK  How many comparisons locate 9?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E910E4-3781-469C-80F5-5700CD0E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CD4B0E-7930-4B62-96EF-09FE7D59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13 / 26</a:t>
            </a:r>
          </a:p>
        </p:txBody>
      </p:sp>
    </p:spTree>
    <p:extLst>
      <p:ext uri="{BB962C8B-B14F-4D97-AF65-F5344CB8AC3E}">
        <p14:creationId xmlns:p14="http://schemas.microsoft.com/office/powerpoint/2010/main" val="196986749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060F08-B564-4ABA-B98F-268341BB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rPr>
              <a:t>CHAPTER 7   7.4 · Swap trace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4C47FB-D3A7-489F-9999-75A0F87D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Swapping preserves both values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ED1523-ACFC-4999-9C7B-D8248415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A temporary variable stores the value about to be overwritten.</a:t>
            </a:r>
          </a:p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Each assignment uses the values from the preceding row.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FA4CD4-815B-44E6-9B49-C00F1EAE3595}"/>
              </a:ext>
            </a:extLst>
          </p:cNvPr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09728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14800"/>
                <a:gridCol w="2286000"/>
                <a:gridCol w="2286000"/>
                <a:gridCol w="22860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Instruction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5042A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5042A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5042A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Temp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5042A4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Initial values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Temp ← 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 ← B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 ← Temp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3E6573-96C0-4BDA-9A90-5DBE572D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rPr>
              <a:t>CHECK  What goes wrong without Temp?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19C3CC-6EE5-4BC5-8241-6492E243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C3ACAE-D23D-4A72-B152-BF23343A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14 / 26</a:t>
            </a:r>
          </a:p>
        </p:txBody>
      </p:sp>
    </p:spTree>
    <p:extLst>
      <p:ext uri="{BB962C8B-B14F-4D97-AF65-F5344CB8AC3E}">
        <p14:creationId xmlns:p14="http://schemas.microsoft.com/office/powerpoint/2010/main" val="201936022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5F84CB-BA1B-486F-AD89-E857AA99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rPr>
              <a:t>CHAPTER 7   7.4 · Bubble sort pass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4A42E2-754F-44A8-B598-8AB70B74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Bubble sort: the first pass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D47EF6-9041-4EF1-ACE4-DF5C4E77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Compare adjacent values from left to right.</a:t>
            </a:r>
          </a:p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Swap only when the left value exceeds the right value.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3425C7-5696-4EB5-BDC8-BDB049D5193D}"/>
              </a:ext>
            </a:extLst>
          </p:cNvPr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09728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3962400"/>
                <a:gridCol w="39624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Comparison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5042A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List after comparison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5042A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5042A4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Start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4   7   2   1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 and 7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4   7   2   1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Keep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 and 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4   2   7   1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Swap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 and 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4   2   1   7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Swap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F7E7B7-D76E-4626-8C68-1245F69D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rPr>
              <a:t>CHECK  Is the list fully sorted at the end of this pass?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ECC823-D8F7-4BD2-8AA5-EB6240B5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FB8561-CA7F-4245-BC45-02131973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15 / 26</a:t>
            </a:r>
          </a:p>
        </p:txBody>
      </p:sp>
    </p:spTree>
    <p:extLst>
      <p:ext uri="{BB962C8B-B14F-4D97-AF65-F5344CB8AC3E}">
        <p14:creationId xmlns:p14="http://schemas.microsoft.com/office/powerpoint/2010/main" val="13614567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4096C0-D511-44CE-A097-C4556876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rPr>
              <a:t>CHAPTER 7   7.4 · Bubble sort termination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347B76-CDA6-4D2C-9077-B50480EB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Bubble sort: later passes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71F437-692A-4001-A6EF-C87154D2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Each pass moves another large value towards the right.</a:t>
            </a:r>
          </a:p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The simple version stops after a complete pass makes no swaps.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2595E1-190F-438A-AB1D-617003E363A5}"/>
              </a:ext>
            </a:extLst>
          </p:cNvPr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09728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3962400"/>
                <a:gridCol w="39624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Pass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5042A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List at end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5042A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Any swaps?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5042A4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4   2   1   7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TRUE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2   1   4   7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TRUE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1   2   4   7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TRUE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1   2   4   7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FALSE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ECF8ED-DE48-43EC-A3DA-7D94AE4BB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rPr>
              <a:t>CHECK  Why does this version execute pass 4?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5873B3-00BD-40F6-9318-5F807DE6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F5F658-EC3B-494E-872E-459B99428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16 / 26</a:t>
            </a:r>
          </a:p>
        </p:txBody>
      </p:sp>
    </p:spTree>
    <p:extLst>
      <p:ext uri="{BB962C8B-B14F-4D97-AF65-F5344CB8AC3E}">
        <p14:creationId xmlns:p14="http://schemas.microsoft.com/office/powerpoint/2010/main" val="17850193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FCD16D-BE65-4243-A725-5855F616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rPr>
              <a:t>CHAPTER 7   7.4 · Bubble sort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6F5C89-88BE-4939-B794-0665C9D4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Bubble sort pseudocode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1BA88A-ABAE-499C-AB94-016112A7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Compare neighbours and swap if they are in the wrong order.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B6CB5E-E6F3-4EF3-BCB2-8E031BCF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After one ascending pass, the largest value is at the right end.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8EC4CE-BA96-4BCE-9904-A436F145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Repeat until a full pass makes no swaps.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1BEC69-1895-4B55-8977-AF51D18D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81150"/>
            <a:ext cx="7115175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REPEAT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    Swapped ← FALSE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    FOR Index ← 1 TO N - 1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        IF A[Index] &gt; A[Index + 1] THEN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            Temp ← A[Index]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            A[Index] ← A[Index + 1]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            A[Index + 1] ← Temp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            Swapped ← TRUE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        ENDIF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    NEXT Index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UNTIL Swapped = FALSE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74E980-8E5D-4A35-9002-5B881A88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rPr>
              <a:t>CHECK  One pass over [4, 7, 2, 1] produces which list?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5B67CD-EAF2-4EC1-ABAC-A8C465D4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D2EEBE-DE2E-446E-9415-415E18EF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17 / 26</a:t>
            </a:r>
          </a:p>
        </p:txBody>
      </p:sp>
    </p:spTree>
    <p:extLst>
      <p:ext uri="{BB962C8B-B14F-4D97-AF65-F5344CB8AC3E}">
        <p14:creationId xmlns:p14="http://schemas.microsoft.com/office/powerpoint/2010/main" val="161514728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5FDE66-22C5-4F07-806B-9AC31EFC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rPr>
              <a:t>CHAPTER 7   7.5 ·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6CAC64-37CF-490F-9DA2-678C2C06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Validation checks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832F4C-A14E-4FF7-A1AD-8104745D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A value can pass validation and still be factually wrong.</a:t>
            </a:r>
          </a:p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Combine checks where necessary: presence, type and range serve different purposes.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87ED72-FE5D-4405-B410-9702AAF0BB9D}"/>
              </a:ext>
            </a:extLst>
          </p:cNvPr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09728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69277"/>
                <a:gridCol w="6303523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Check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5042A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Example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5042A4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Range / type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Integer score from 0 to 20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Length / format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Code has 6 characters / pattern AB1234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Presence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Name is not empty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Check digit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Recalculate an appended digit to detect some entry errors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26A76F-1DCA-41DE-BD93-E2B37D6A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rPr>
              <a:t>CHECK  A student types 12 instead of 13; both are valid ages. Will a range check detect it?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E33899-FCAF-4ECE-A43B-20C469F3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65B028-CFBF-4DB1-AC5F-FAA43B85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18 / 26</a:t>
            </a:r>
          </a:p>
        </p:txBody>
      </p:sp>
    </p:spTree>
    <p:extLst>
      <p:ext uri="{BB962C8B-B14F-4D97-AF65-F5344CB8AC3E}">
        <p14:creationId xmlns:p14="http://schemas.microsoft.com/office/powerpoint/2010/main" val="102914449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E4A157-029A-4B1E-BEB2-66801F9B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rPr>
              <a:t>CHAPTER 7   7.5 · Validation examples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0879A6-C383-4F56-ACB6-68E9F16B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Choosing a suitable validation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DADFC7-9F58-4168-84CC-C0960A8E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Choose a rule that matches the requirement.</a:t>
            </a:r>
          </a:p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A value may satisfy one check and fail another.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FA8047-0015-46A8-AEF3-55405D8EE693}"/>
              </a:ext>
            </a:extLst>
          </p:cNvPr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0972800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3962400"/>
                <a:gridCol w="39624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Requirement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5042A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Check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5042A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Rejected example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5042A4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Integer score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Type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12.5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Score from 0 to 20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Range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Exactly 6 characters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Length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AB123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Name required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Presence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Empty entry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Two letters, four digits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Format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1234AB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D5E9BF-6BEF-44B8-AEBC-92F2363E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rPr>
              <a:t>CHECK  Which checks suit a required six-character code?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74A332-2EE3-415F-A2D8-A8C05B35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03E9E0-8226-419D-9895-FC277516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19 / 26</a:t>
            </a:r>
          </a:p>
        </p:txBody>
      </p:sp>
    </p:spTree>
    <p:extLst>
      <p:ext uri="{BB962C8B-B14F-4D97-AF65-F5344CB8AC3E}">
        <p14:creationId xmlns:p14="http://schemas.microsoft.com/office/powerpoint/2010/main" val="9821252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415CD0-7E39-49CF-93D3-983CD774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rPr>
              <a:t>CHAPTER 7   7.5 · Check digit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FE0B12-D485-478E-8FAD-B3F06961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Check digits detect some entry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947393-B5CD-4DA6-962D-C8D61038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A rule calculates an extra digit from the other digits.</a:t>
            </a:r>
          </a:p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The program recalculates it when the identifier is entered.</a:t>
            </a:r>
          </a:p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A match does not guarantee that the identifier is correct.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01AF4B-02F0-4677-94C4-6F0EFEB6B681}"/>
              </a:ext>
            </a:extLst>
          </p:cNvPr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09728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69277"/>
                <a:gridCol w="6303523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Stage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5042A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Illustrative classroom rule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5042A4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 digits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2, 4, 6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Calculate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(2 + 4 + 6) MOD 10 = 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Stored code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2462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Mistyped code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2463 fails the final-digit check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913686-D7D4-4A2F-BAE2-FEFE70FE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rPr>
              <a:t>CHECK  Can a check digit prove that the product is the one intended?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6A066E-FEE4-4936-8508-2B2C68F3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454395-BA59-47DB-A35D-E6F45EFF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20 / 26</a:t>
            </a:r>
          </a:p>
        </p:txBody>
      </p:sp>
    </p:spTree>
    <p:extLst>
      <p:ext uri="{BB962C8B-B14F-4D97-AF65-F5344CB8AC3E}">
        <p14:creationId xmlns:p14="http://schemas.microsoft.com/office/powerpoint/2010/main" val="72464080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F1217E-3181-495A-8E55-B93A8302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rPr>
              <a:t>CHAPTER 7   7.5 ·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A4209D-71C3-4663-972F-223B7BF4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Verification checks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318FC0-6E48-4DBC-A0E1-344FE93B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7B50EA-7547-4204-B720-4D970880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619250"/>
            <a:ext cx="9810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Visual check: compare entered data with the original source.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1D1B5C-7C67-448E-BAB3-84DD4F6C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783FF7-9A18-46B1-BF53-74C5A48F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19400"/>
            <a:ext cx="9810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Double entry: enter data twice and compare the entries.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217454-3234-4365-BDD2-F257B171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6CC6A8-5900-4834-B7B1-3F951B1D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019550"/>
            <a:ext cx="9810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Neither method proves the original source is correct.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D7B2F2-D546-4953-B2DB-FB5824B1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rPr>
              <a:t>CHECK  Two identical incorrect entries pass double entry. Why?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D0765A-4A45-4EAD-AEB0-D893E6B5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611EE6-4270-40FB-A16A-2DCC5D8C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21 / 26</a:t>
            </a:r>
          </a:p>
        </p:txBody>
      </p:sp>
    </p:spTree>
    <p:extLst>
      <p:ext uri="{BB962C8B-B14F-4D97-AF65-F5344CB8AC3E}">
        <p14:creationId xmlns:p14="http://schemas.microsoft.com/office/powerpoint/2010/main" val="157513750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2C1ACD-A591-410E-A6A6-A803F860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rPr>
              <a:t>CHAPTER 7   7.6 · Test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4E3836-1E85-453B-8204-D4B01A65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Normal, abnormal, extreme and boundary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887E42-4569-4C05-A062-4F0028BC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For an integer score from 0 to 20 inclusive, test both accepted limits and adjacent rejected values.</a:t>
            </a:r>
          </a:p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A test plan needs input, expected result, actual result and a judgement.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1BCB6A-9A86-4676-93DE-48933DB102B1}"/>
              </a:ext>
            </a:extLst>
          </p:cNvPr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09728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3962400"/>
                <a:gridCol w="39624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Category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5042A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Input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5042A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Expected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5042A4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Normal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Accept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Abnormal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21 or "hello"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Reject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Extreme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 and 20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Accept both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Boundary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−1, 0, 20, 21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Reject, accept, accept, reject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4E2331-A67F-4765-8D1F-F1803A5C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rPr>
              <a:t>CHECK  Are extreme and boundary data identical?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DDEB35-F2A6-4AC4-A87E-734A5CAA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7B60BB-9D9F-4E2B-885D-3F85DD84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22 / 26</a:t>
            </a:r>
          </a:p>
        </p:txBody>
      </p:sp>
    </p:spTree>
    <p:extLst>
      <p:ext uri="{BB962C8B-B14F-4D97-AF65-F5344CB8AC3E}">
        <p14:creationId xmlns:p14="http://schemas.microsoft.com/office/powerpoint/2010/main" val="173212112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C5E693-68E4-4E73-A184-FB7545FD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rPr>
              <a:t>CHAPTER 7   7.6 · Test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2C0048-93CF-455F-839F-FE62D0D8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A test plan makes expectations explicit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B683C7-1EE8-45B7-AE5F-801164A2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The accepted integer interval is 0 to 20 inclusive.</a:t>
            </a:r>
          </a:p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Choose expected results before running the program.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5B7BF9-8857-497A-837C-5ED584519316}"/>
              </a:ext>
            </a:extLst>
          </p:cNvPr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0972800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3962400"/>
                <a:gridCol w="39624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Input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5042A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Purpose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5042A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Expected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5042A4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Normal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Accept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Below lower boundary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Reject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Lower extreme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Accept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Upper extreme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Accept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Above upper boundary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Reject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37F5B4-72D0-49BF-A16E-E77A7CD6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rPr>
              <a:t>CHECK  If 20 is rejected, which part of the condition may be wrong?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221A41-1E07-456F-9DC2-17ED5311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D4B8B0-9580-499F-B43E-FCA0818D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23 / 26</a:t>
            </a:r>
          </a:p>
        </p:txBody>
      </p:sp>
    </p:spTree>
    <p:extLst>
      <p:ext uri="{BB962C8B-B14F-4D97-AF65-F5344CB8AC3E}">
        <p14:creationId xmlns:p14="http://schemas.microsoft.com/office/powerpoint/2010/main" val="112523416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48AA45-ABF6-4112-9420-565DFA25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rPr>
              <a:t>CHAPTER 7   7.8–7.9 · Error correction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07E153-EEBA-4187-A7DE-7E972F3A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Correcting a faulty condition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161750-98F7-4A73-A040-90E46927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Requirement: reject any integer outside 0 to 20.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63117C-5FED-461A-AEEE-C9BCA129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The condition below rejects no number.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2D52F9-9BB9-4060-83AD-0D956118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Correct the Boolean logic and test all four boundary values.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1760A4-CA64-4831-BCAB-A1795B53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81150"/>
            <a:ext cx="7115175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IF Score &lt; 0 AND Score &gt; 20 THEN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    OUTPUT "Invalid"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ENDIF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2A0EC4-B72A-4952-8DE5-5C5D10FA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rPr>
              <a:t>CHECK  Replace the faulty condition with a correct condition.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F5A8D1-EB3E-423D-BC9C-D99D943E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3AD27D-8B3C-41D1-B0FC-2A20209C9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24 / 26</a:t>
            </a:r>
          </a:p>
        </p:txBody>
      </p:sp>
    </p:spTree>
    <p:extLst>
      <p:ext uri="{BB962C8B-B14F-4D97-AF65-F5344CB8AC3E}">
        <p14:creationId xmlns:p14="http://schemas.microsoft.com/office/powerpoint/2010/main" val="36349577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87D96F-71EF-4F4B-9255-DF63CD29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rPr>
              <a:t>CHAPTER 7   7.9 · Independent task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27EE23-B70E-4C2B-81A4-BC45D914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Independent task: five valid scores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53CF47-C780-49C1-924B-72581298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33AE2E-FC15-4BC2-8BCC-70D7E4E0A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619250"/>
            <a:ext cx="9810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Read five integer scores, each from 0 to 20.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3A780A-14FE-474F-A376-14AD74C6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5050E4-897C-41DF-95BA-B8325BE6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19400"/>
            <a:ext cx="9810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Reject invalid values without counting them.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A52E01-9E92-4B1A-9B2A-919628F4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E66FC3-90D5-459D-B016-B118925D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019550"/>
            <a:ext cx="9810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Output the total, mean and highest score.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E1CA8C-A16E-4440-9418-613C26FC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rPr>
              <a:t>CHECK  For inputs 4, 21, 7, 2, 1, 6, what should the outputs be?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70C1BB-BC0B-4D95-A426-0A60B287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B183BF-C389-43DD-89DE-DCE710FB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25 / 26</a:t>
            </a:r>
          </a:p>
        </p:txBody>
      </p:sp>
    </p:spTree>
    <p:extLst>
      <p:ext uri="{BB962C8B-B14F-4D97-AF65-F5344CB8AC3E}">
        <p14:creationId xmlns:p14="http://schemas.microsoft.com/office/powerpoint/2010/main" val="135667790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0942FF-EFC8-4A5A-BFAC-C960FDD7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rPr>
              <a:t>CHAPTER 7   7.9 · Model answer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FDA0E5-CCCD-4A4A-BED3-5AFFB6C5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Five scores: model algorithm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7A5BC4-06EE-4985-B2B5-1FA403BE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Zero is a safe initial maximum for scores from 0 to 20.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2122C3-07F4-4F64-99EF-004584CB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Only a valid score leaves the inner loop.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3ACF73-2C2C-4432-B339-8F857EA2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81150"/>
            <a:ext cx="7115175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Total ← 0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Highest ← 0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FOR Index ← 1 TO 5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    REPEAT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        INPUT Score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    UNTIL Score &gt;= 0 AND Score &lt;= 20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    Total ← Total + Score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    IF Score &gt; Highest THEN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        Highest ← Score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    ENDIF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NEXT Index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OUTPUT Total, Total / 5, Highest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9BB8D8-D4C5-4DE4-B17B-4F7ED765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5042A4"/>
                </a:solidFill>
                <a:latin typeface="Helvetica Neue"/>
                <a:ea typeface="Helvetica Neue"/>
                <a:cs typeface="Helvetica Neue"/>
              </a:rPr>
              <a:t>CHECK  Why does an invalid entry not increase Index?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3D63B2-1BE8-4AB5-840A-D62A8D95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7EEF73-DFF6-4AE3-B75E-B183EA54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26 / 26</a:t>
            </a:r>
          </a:p>
        </p:txBody>
      </p:sp>
    </p:spTree>
    <p:extLst>
      <p:ext uri="{BB962C8B-B14F-4D97-AF65-F5344CB8AC3E}">
        <p14:creationId xmlns:p14="http://schemas.microsoft.com/office/powerpoint/2010/main" val="7708223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2026-10-13T08:07:01.9300000Z</dcterms:created>
  <dcterms:modified xsi:type="dcterms:W3CDTF">2026-10-13T08:07:01.9300000Z</dcterms:modified>
</coreProperties>
</file>